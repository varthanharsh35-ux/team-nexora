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8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99.1%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ln w="9525" cap="flat">
                <a:solidFill>
                  <a:srgbClr val="F1F5F9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4D-436A-BE08-A00F3C9744DA}"/>
              </c:ext>
            </c:extLst>
          </c:dPt>
          <c:dPt>
            <c:idx val="1"/>
            <c:bubble3D val="0"/>
            <c:spPr>
              <a:solidFill>
                <a:srgbClr val="D5DCE5"/>
              </a:solidFill>
              <a:ln w="9525" cap="flat">
                <a:solidFill>
                  <a:srgbClr val="F1F5F9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4D-436A-BE08-A00F3C9744DA}"/>
              </c:ext>
            </c:extLst>
          </c:dPt>
          <c:cat>
            <c:strRef>
              <c:f>Sheet1!$A$2:$A$3</c:f>
              <c:strCache>
                <c:ptCount val="2"/>
                <c:pt idx="0">
                  <c:v>Share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99.1</c:v>
                </c:pt>
                <c:pt idx="1">
                  <c:v>0.90000000000000568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4D-436A-BE08-A00F3C974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68%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ln w="9525" cap="flat">
                <a:solidFill>
                  <a:srgbClr val="F1F5F9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EFAF-4E90-A0FB-59FBB20A9345}"/>
              </c:ext>
            </c:extLst>
          </c:dPt>
          <c:dPt>
            <c:idx val="1"/>
            <c:bubble3D val="0"/>
            <c:spPr>
              <a:solidFill>
                <a:srgbClr val="D5DCE5"/>
              </a:solidFill>
              <a:ln w="9525" cap="flat">
                <a:solidFill>
                  <a:srgbClr val="F1F5F9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EFAF-4E90-A0FB-59FBB20A9345}"/>
              </c:ext>
            </c:extLst>
          </c:dPt>
          <c:cat>
            <c:strRef>
              <c:f>Sheet1!$A$2:$A$3</c:f>
              <c:strCache>
                <c:ptCount val="2"/>
                <c:pt idx="0">
                  <c:v>Share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AF-4E90-A0FB-59FBB20A9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41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DIAMOND (Discover + Define): this slide proves we understood the problem before proposing a solution.
Primary user: first-time rural micro-entrepreneur, 22-45 yrs, Tier 3/4 villages, capital Rs 10,000 - Rs 5,00,000, 10th pass to graduate. Secondary: CSC operators, SHG facilitators, bank/SCA loan officers, family co-signers.
User pain ranking: (1) market blindness - starting without demand validation; (2) financial confusion - loan amount is not the same as affordable EMI; (3) portal fragmentation - 4-5 systems per application, 3-5 days.
Reframing: original brief was "AI chatbot for rural loan discovery". Evidence showed credit access is not the bottleneck; poor pre-investment planning is. Hence: "evidence-backed decision layer to evaluate feasibility and structure financing before borrowing".
How might we: help rural micro-entrepreneurs find the best business and financing fit for their local market and capital, without navigating multiple fragmented portals?
Be ready to cite the source for the 68% failure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concepts were evaluated: (1) Q&amp;A bot for scheme discovery, (2) raw-data dashboard, (3) decision platform. Concept 1 rejected: risk of AI hallucination in financial advice. Concept 2 rejected: too complex for low-literacy rural users. Concept 3 (GramSahayak AI) balances depth with financial safety.
Demo flow: Village + Rs 1 lakh + Dairy -&gt; feasibility score + SWOT + EMI + scheme match.
Financial rule as designed: user capital is the 10% margin, so project cost = capital / 0.10 and loan = 90% of project cost. Illustration: Rs 1L capital -&gt; Rs 10L project cost -&gt; Rs 9L loan. Check this against actual scheme ceilings before the demo; the rules are config-driven so ceilings can be encoded per scheme.
Purchasing Power Index is a proxy, not a measured value; every AI insight shows its data source and a confidence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workflow left to right. The Local Intelligence Engine pulls Census 2011 (population, households) and queries OSM for similar businesses within 5 km. The Feasibility Engine turns those verified numbers into a Purchasing Power Index and lets the LLM write a SWOT and risk report grounded only in them (RAG over pgvector). The Financial Engine never touches an LLM.
Honest limitations to state up front: Census 2011 village data is dated; Udyam misses informal shops. We label estimates as estimates and show confidence scores.
Assumption still to validate in the pilot: the proxy math (Census + OSM) is directionally accurate for village-level demand.
Voice UI and regional languages come through the AI4Bharat Bhashini API because target users have low digital literacy and unstable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 decision platform rather than a chatbot: generic LLMs invent numbers, have no village-level grounding, and cannot show their working. Our differentiator is the split between AI (insight text) and deterministic rules (money).
Validation plan: (1) verify EMI calculations against official scheme guidelines; (2) test comprehension with 5-10 rural users - can they explain their own loan?; (3) validate competitor-density proxy against ground reality.
Risks and mitigations: AI hallucination in finance -&gt; 100% deterministic engine. Outdated village data -&gt; clear labelling of estimates vs facts. Low trust in digital advice -&gt; voice UI, local language, CSC/SHG facilitators as human bridge.
Cost: open-source stack, free government data, free-tier cloud; sustainable via state licensing after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for the jury: MoSPI https://www.mospi.gov.in/ | Census https://censusindia.gov.in/ | NABARD https://www.nabard.org/ | Udyam https://udyamregistration.gov.in/ | PSB Loans in 59 Minutes https://www.psbloansin59minutes.com/ | JanSamarth https://www.jansamarth.in/ | PM-SURAJ https://pmsuraj.dosje.gov.in/ | SVEP https://svep.nrlm.gov.in/ | eNAM https://enam.gov.in/ | Khatabook https://khatabook.com/
Khatabook/OkCredit is included as a fifth benchmarked competitor (the ideathon template asks for at least five existing solutions).
Every existing tool solves one function well; the opportunity is the integrated pre-investment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targets beyond the hackathon (from the ideathon submission): Year 1 - serve 500+ entrepreneurs across 5-10 pilot villages. Year 3 - 10,000+ beneficiaries across 3 states. Business model: free for beneficiaries, sustained through state government licensing. Roadmap includes live API integration with Udyam and DAY-NRLM.
Social impact focus: SC/ST/minority entrepreneurs and women entrepreneurs through SHG facilitators.
Not solving: loan approval or credit scoring (stays with banks/SCAs), guaranteeing business success, replacing human facilitators, real-time market prices. State this to show a sharp problem boundary.
Team: map each member's name to their role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KUMARAGURU INTERNAL IDEATHON  |  TEAM NEXORA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LOGO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Ideathon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Rural Entrepreneur Financial Exclusion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691640" cy="365760"/>
          </a:xfrm>
          <a:prstGeom prst="roundRect">
            <a:avLst>
              <a:gd name="adj" fmla="val 15000"/>
            </a:avLst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ID: SIH26091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77440" y="1371600"/>
            <a:ext cx="370332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377440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Ministry: Social Justice &amp; Empowerment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434340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217920" y="1371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Agriculture, Foodtech &amp; Rural Development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5394960" cy="169164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" y="20574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35915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rural micro-entrepreneurs lack integrated decision-support to evaluate business feasibility and structure financing before investing.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from “AI chatbot for loan discovery” to a pre-investment decision layer.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5394960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22960" y="3858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|  5 WHYS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187952"/>
            <a:ext cx="8686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22960" y="41879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160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rural micro-enterprises fail within 3 years, despite concessional credit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4572000"/>
            <a:ext cx="8686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22960" y="45720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828800" y="4544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business choices; repayment burden underestimated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956048"/>
            <a:ext cx="8686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822960" y="495604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828800" y="49286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local market analysis or EMI-vs-cash-flow clarity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" y="5340096"/>
            <a:ext cx="86868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22960" y="534009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0" y="5312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 is trapped in disconnected government silos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5724144"/>
            <a:ext cx="868680" cy="2926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822960" y="57241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828800" y="56967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integrated, hyper-local pre-investment decision layer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36792" y="1920240"/>
            <a:ext cx="5303520" cy="169164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611112" y="2084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11112" y="2468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7.92 crore</a:t>
            </a:r>
            <a:endParaRPr lang="en-US" sz="4600" dirty="0"/>
          </a:p>
        </p:txBody>
      </p:sp>
      <p:sp>
        <p:nvSpPr>
          <p:cNvPr id="38" name="Text 36"/>
          <p:cNvSpPr txBox="1"/>
          <p:nvPr/>
        </p:nvSpPr>
        <p:spPr>
          <a:xfrm>
            <a:off x="6611112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unincorporated rural establishments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MoSPI ASUSE 2023-24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336792" y="3749040"/>
            <a:ext cx="2505456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0" name="Chart 0"/>
          <p:cNvGraphicFramePr/>
          <p:nvPr/>
        </p:nvGraphicFramePr>
        <p:xfrm>
          <a:off x="6858000" y="3858768"/>
          <a:ext cx="14630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Text 38"/>
          <p:cNvSpPr txBox="1"/>
          <p:nvPr/>
        </p:nvSpPr>
        <p:spPr>
          <a:xfrm>
            <a:off x="6858000" y="3858768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6519672" y="5413248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establishments don't maintain audited books</a:t>
            </a:r>
            <a:endParaRPr lang="en-US" sz="1250" dirty="0"/>
          </a:p>
        </p:txBody>
      </p:sp>
      <p:sp>
        <p:nvSpPr>
          <p:cNvPr id="43" name="Shape 40"/>
          <p:cNvSpPr/>
          <p:nvPr/>
        </p:nvSpPr>
        <p:spPr>
          <a:xfrm>
            <a:off x="9134856" y="3749040"/>
            <a:ext cx="2505456" cy="242316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4" name="Chart 1"/>
          <p:cNvGraphicFramePr/>
          <p:nvPr/>
        </p:nvGraphicFramePr>
        <p:xfrm>
          <a:off x="9656064" y="3858768"/>
          <a:ext cx="14630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5" name="Text 41"/>
          <p:cNvSpPr txBox="1"/>
          <p:nvPr/>
        </p:nvSpPr>
        <p:spPr>
          <a:xfrm>
            <a:off x="9656064" y="3858768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800" dirty="0"/>
          </a:p>
        </p:txBody>
      </p:sp>
      <p:sp>
        <p:nvSpPr>
          <p:cNvPr id="46" name="Text 42"/>
          <p:cNvSpPr txBox="1"/>
          <p:nvPr/>
        </p:nvSpPr>
        <p:spPr>
          <a:xfrm>
            <a:off x="9317736" y="5413248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rural micro-enterprises fail within 3 years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KUMARAGURU INTERNAL IDEATHON  |  TEAM NEXORA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LOGO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Ideathon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GramSahayak AI: Pre-Investment Decision Intelligence Platform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architecture combining hyper-local feasibility analysis with deterministic financial structuring.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94960" cy="2377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22960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|  AI FOR INSIGHTS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49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Feasibility Engine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76148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data: village population &amp; households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OpenStreetMap: competitors within a 5 km radius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Power Index (transparent proxy math)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SWOT &amp; risk report from verified numbers only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45352" y="1828800"/>
            <a:ext cx="53949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519672" y="19751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|  ZERO AI IN THE MATH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249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Deterministic Financial Calculator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76148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 = capital ÷ 10% margin; loan = 90%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6.5% / 8% interest + moratorium → quarterly EMI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routing &amp; repayment schedule</a:t>
            </a:r>
            <a:endParaRPr lang="en-US" sz="14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scheme rules, fully auditable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91672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22960" y="43434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2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AI (for insights) from deterministic rules (for finance), ensuring zero hallucinations in critical calculations.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85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2377440" cy="594360"/>
          </a:xfrm>
          <a:prstGeom prst="rect">
            <a:avLst/>
          </a:prstGeom>
          <a:solidFill>
            <a:srgbClr val="F1F5F9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0080" y="5577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Village + Capital + Business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08376" y="5733288"/>
            <a:ext cx="362712" cy="274320"/>
          </a:xfrm>
          <a:prstGeom prst="rightArrow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453384" y="5577840"/>
            <a:ext cx="2377440" cy="594360"/>
          </a:xfrm>
          <a:prstGeom prst="rect">
            <a:avLst/>
          </a:prstGeom>
          <a:solidFill>
            <a:srgbClr val="F1F5F9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544824" y="5577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Intelligence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13120" y="5733288"/>
            <a:ext cx="362712" cy="274320"/>
          </a:xfrm>
          <a:prstGeom prst="rightArrow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58128" y="5577840"/>
            <a:ext cx="2377440" cy="594360"/>
          </a:xfrm>
          <a:prstGeom prst="rect">
            <a:avLst/>
          </a:prstGeom>
          <a:solidFill>
            <a:srgbClr val="F1F5F9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449568" y="5577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Score + Financial Plan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17864" y="5733288"/>
            <a:ext cx="362712" cy="274320"/>
          </a:xfrm>
          <a:prstGeom prst="rightArrow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262872" y="5577840"/>
            <a:ext cx="2377440" cy="594360"/>
          </a:xfrm>
          <a:prstGeom prst="rect">
            <a:avLst/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9354312" y="5577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Application Link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KUMARAGURU INTERNAL IDEATHON  |  TEAM NEXORA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LOGO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Ideathon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Implementation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187452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1664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· Capital · Business idea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05456" y="1993392"/>
            <a:ext cx="265176" cy="274320"/>
          </a:xfrm>
          <a:prstGeom prst="rightArrow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52928" y="1600200"/>
            <a:ext cx="187452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944368" y="1664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Intelligence Engine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+ OSM (5 km radius)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9744" y="1993392"/>
            <a:ext cx="265176" cy="274320"/>
          </a:xfrm>
          <a:prstGeom prst="rightArrow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57216" y="1600200"/>
            <a:ext cx="1874520" cy="1051560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5248656" y="1664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Engine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Power Index + RAG SWOT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14032" y="1993392"/>
            <a:ext cx="265176" cy="274320"/>
          </a:xfrm>
          <a:prstGeom prst="rightArrow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461504" y="1600200"/>
            <a:ext cx="1874520" cy="1051560"/>
          </a:xfrm>
          <a:prstGeom prst="rect">
            <a:avLst/>
          </a:prstGeom>
          <a:solidFill>
            <a:srgbClr val="2E8B57"/>
          </a:solidFill>
          <a:ln w="952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552944" y="1664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52944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rules, zero AI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18320" y="1993392"/>
            <a:ext cx="265176" cy="274320"/>
          </a:xfrm>
          <a:prstGeom prst="rightArrow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9765792" y="1600200"/>
            <a:ext cx="187452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9857232" y="16642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Output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857232" y="22128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EMI plan, scheme link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52928" y="2743200"/>
            <a:ext cx="4178808" cy="274320"/>
          </a:xfrm>
          <a:prstGeom prst="rect">
            <a:avLst/>
          </a:prstGeom>
          <a:solidFill>
            <a:srgbClr val="E3E9F1"/>
          </a:solidFill>
          <a:ln w="12700">
            <a:solidFill>
              <a:srgbClr val="E3E9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2852928" y="2743200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DATA-GROUNDED INSIGHTS  |  AI WRITES TEXT ONLY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61504" y="2743200"/>
            <a:ext cx="1874520" cy="274320"/>
          </a:xfrm>
          <a:prstGeom prst="rect">
            <a:avLst/>
          </a:prstGeom>
          <a:solidFill>
            <a:srgbClr val="E1F1E8"/>
          </a:solidFill>
          <a:ln w="12700">
            <a:solidFill>
              <a:srgbClr val="E1F1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461504" y="2743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ZONE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3200400"/>
            <a:ext cx="11091672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77240" y="3200400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154680" y="3200400"/>
            <a:ext cx="8257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 +  PostgreSQL/PostGIS (geo-data)  +  pgvector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3694176"/>
            <a:ext cx="11091672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777240" y="3694176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154680" y="3694176"/>
            <a:ext cx="8257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with Llama-3 / GPT-4o-mini for grounded text insights only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4187952"/>
            <a:ext cx="11091672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777240" y="4187952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3154680" y="4187952"/>
            <a:ext cx="8257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 |  OpenStreetMap Overpass API  |  Udyam Dashboard  |  NABARD NAFIS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48640" y="4681728"/>
            <a:ext cx="11091672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777240" y="4681728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3154680" y="4681728"/>
            <a:ext cx="8257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(web)  +  Flutter (mobile)  +  AI4Bharat Bhashini API (22+ languages)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5175504"/>
            <a:ext cx="11091672" cy="448056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777240" y="5175504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Engine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3154680" y="5175504"/>
            <a:ext cx="8257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rule engine with scheme compliance (6.5%-8% interest, moratorium periods)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5669280"/>
            <a:ext cx="11091672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777240" y="5669280"/>
            <a:ext cx="2286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3154680" y="5669280"/>
            <a:ext cx="8257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2G/3G low-bandwidth  |  Regional + voice UI  |  Config-driven scheme rules  |  Estimates labelled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KUMARAGURU INTERNAL IDEATHON  |  TEAM NEXORA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LOGO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85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Ideathon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Feasibility &amp; Competitive Advantage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120640" cy="269748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22960" y="1536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FEASIBILITY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187452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(AWS/Azure free tier), open-source stack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Low-bandwidth compatible (2G/3G)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₹5-10L/year state licensing; free for beneficiaries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1 state, 5 villages, 5 business categories → scalable to 10,000 villages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HTML/JS proof-of-concept for EMI &amp; scheme routing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2743200" cy="2697480"/>
          </a:xfrm>
          <a:prstGeom prst="rect">
            <a:avLst/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17220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9202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financial data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market grounding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✗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recommendations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97112" y="1371600"/>
            <a:ext cx="2743200" cy="2697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9125712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GRAMSAHAYAK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25712" y="19202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deterministic finance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Census/OSM-grounded data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confidence scores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proxy math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77240" y="4206240"/>
            <a:ext cx="10634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village data is dated and Udyam misses informal shops, so outputs are labelled estimates, not facts.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2567178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77240" y="5084064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66928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accuracy (deterministic)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390138" y="5047488"/>
            <a:ext cx="2567178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18738" y="5084064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3618738" y="566928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 with source + confidence score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31636" y="5047488"/>
            <a:ext cx="2567178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460236" y="5084064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6460236" y="566928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explain their loan &amp; EMI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073134" y="5047488"/>
            <a:ext cx="2567178" cy="114300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9301734" y="5084064"/>
            <a:ext cx="21099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min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9301734" y="5669280"/>
            <a:ext cx="210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(vs. 3-5 days manual)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KUMARAGURU INTERNAL IDEATHON  |  TEAM NEXORA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LOGO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Ideathon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Development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514344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155448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Data Sources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194560"/>
            <a:ext cx="30571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MoSPI ASUSE 2023-24 Report: 7.92 Cr unincorporated establishments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India 2011: village-level demographics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NABARD NAFIS 2021-22: 51.3% rural financial literacy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 Dashboard: 5.34 Cr MSME registrations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PSB Loans in 59 Minutes: 46.6L loans sanctioned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7304" y="1371600"/>
            <a:ext cx="3514344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65904" y="155448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56590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0264" y="155448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65904" y="2194560"/>
            <a:ext cx="30571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JanSamarth (jansamarth.in): credit schemes; no local viability check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PM-SURAJ (pmsuraj.dosje.gov.in): MoSJE concessional credit; no business-choice support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SVEP (svep.nrlm.gov.in): human mentoring; not a scalable digital tool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AGMARKNET / eNAM: crop prices only; manual interpretation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Khatabook / OkCredit: post-launch ledger; no pre-investment help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5968" y="1371600"/>
            <a:ext cx="3514344" cy="3977640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354568" y="1554480"/>
            <a:ext cx="457200" cy="4572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35456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948928" y="1554480"/>
            <a:ext cx="250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References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54568" y="2194560"/>
            <a:ext cx="305714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 Bhashini API: multilingual NLP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Overpass API: geospatial data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RAG Framework: grounded AI generation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504688"/>
            <a:ext cx="11091672" cy="7315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22960" y="5504688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access, registration and market prices exist separately. None combine local market feasibility with financial structuring before the entrepreneur borrows.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KUMARAGURU INTERNAL IDEATHON  |  TEAM NEXORA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10543032" y="274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LOGO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- Internal Ideathon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8368"/>
            <a:ext cx="9784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&amp; Team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935099" y="1719072"/>
            <a:ext cx="8318754" cy="0"/>
          </a:xfrm>
          <a:prstGeom prst="line">
            <a:avLst/>
          </a:prstGeom>
          <a:noFill/>
          <a:ln w="38100">
            <a:solidFill>
              <a:srgbClr val="D5D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679067" y="1463040"/>
            <a:ext cx="512064" cy="512064"/>
          </a:xfrm>
          <a:prstGeom prst="ellipse">
            <a:avLst/>
          </a:prstGeom>
          <a:solidFill>
            <a:srgbClr val="2E8B57"/>
          </a:solidFill>
          <a:ln w="317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679067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5740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322576"/>
            <a:ext cx="2590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validated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651760"/>
            <a:ext cx="2407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7.92 Cr establishments, 68% failure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51985" y="1463040"/>
            <a:ext cx="512064" cy="512064"/>
          </a:xfrm>
          <a:prstGeom prst="ellipse">
            <a:avLst/>
          </a:prstGeom>
          <a:solidFill>
            <a:srgbClr val="2E8B57"/>
          </a:solidFill>
          <a:ln w="317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451985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412998" y="205740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12998" y="2322576"/>
            <a:ext cx="2590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selected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504438" y="2651760"/>
            <a:ext cx="2407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architecture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4903" y="1463040"/>
            <a:ext cx="512064" cy="512064"/>
          </a:xfrm>
          <a:prstGeom prst="ellipse">
            <a:avLst/>
          </a:prstGeom>
          <a:solidFill>
            <a:srgbClr val="2E8B57"/>
          </a:solidFill>
          <a:ln w="317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224903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185916" y="205740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85916" y="2322576"/>
            <a:ext cx="2590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tested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277356" y="2651760"/>
            <a:ext cx="2407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997821" y="1463040"/>
            <a:ext cx="512064" cy="51206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9997821" y="14630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958834" y="2057400"/>
            <a:ext cx="25900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58834" y="2322576"/>
            <a:ext cx="25900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050274" y="2651760"/>
            <a:ext cx="2407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users, 5 villages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200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NEXORA  |  ROLES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520440"/>
            <a:ext cx="3514344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77240" y="3520440"/>
            <a:ext cx="3057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Research &amp; Problem Framing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37304" y="3520440"/>
            <a:ext cx="3514344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4565904" y="3520440"/>
            <a:ext cx="3057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PostgreSQL/PostGIS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25968" y="3520440"/>
            <a:ext cx="3514344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8354568" y="3520440"/>
            <a:ext cx="3057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Engineering (RAG pipeline)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233672"/>
            <a:ext cx="3514344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777240" y="4233672"/>
            <a:ext cx="3057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 (FastAPI)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337304" y="4233672"/>
            <a:ext cx="3514344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565904" y="4233672"/>
            <a:ext cx="3057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5]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Frontend/Mobile (React/Flutter)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125968" y="4233672"/>
            <a:ext cx="3514344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8354568" y="4233672"/>
            <a:ext cx="3057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6]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Research &amp; Pitch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956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Guruvelah A S (24BCS087)  ·  Rithwik Kumaran S (24BME084)  ·  Harsha Varthan (24BAD033)  ·  Harinath S (24BCS095)  ·  Dhakshinesh (24BMC009)  ·  Prinetha Kannan (24BCS212)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48640" y="5349240"/>
            <a:ext cx="11091672" cy="8686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822960" y="53492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kern="0" spc="200" dirty="0">
                <a:solidFill>
                  <a:srgbClr val="7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ASK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MoSJE support for pilot deployment in 1 state + access to anonymized scheme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path: MoSJE (policy)  →  State Channelizing Agencies &amp; NSFDC/NBCFDC  →  CSC operators, SHG facilitators, DRDAs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2047</Words>
  <Application>Microsoft Office PowerPoint</Application>
  <PresentationFormat>Widescreen</PresentationFormat>
  <Paragraphs>189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GramSahayak AI - SIH 2026 Internal Ideathon</dc:title>
  <dc:subject>PptxGenJS Presentation</dc:subject>
  <dc:creator>Team GramSahayak</dc:creator>
  <cp:lastModifiedBy>Harinath S 24BCS095</cp:lastModifiedBy>
  <cp:revision>2</cp:revision>
  <dcterms:created xsi:type="dcterms:W3CDTF">2026-09-21T08:07:49Z</dcterms:created>
  <dcterms:modified xsi:type="dcterms:W3CDTF">2026-09-21T08:14:46Z</dcterms:modified>
</cp:coreProperties>
</file>