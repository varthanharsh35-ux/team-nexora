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M5Ww2XBa9ZSuZDZzFJPSFV6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230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suraj.dosje.gov.in/?spm=a2ty_o01.29997173.0.0.2ca855fbMnylV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hatabook.com/" TargetMode="External"/><Relationship Id="rId5" Type="http://schemas.openxmlformats.org/officeDocument/2006/relationships/hyperlink" Target="https://enam.gov.in/" TargetMode="External"/><Relationship Id="rId4" Type="http://schemas.openxmlformats.org/officeDocument/2006/relationships/hyperlink" Target="https://svep.nrlm.gov.in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nsamarth.in/" TargetMode="External"/><Relationship Id="rId3" Type="http://schemas.openxmlformats.org/officeDocument/2006/relationships/hyperlink" Target="https://www.mospi.gov.in/" TargetMode="External"/><Relationship Id="rId7" Type="http://schemas.openxmlformats.org/officeDocument/2006/relationships/hyperlink" Target="https://www.psbloansin59minutes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dyamregistration.gov.in/" TargetMode="External"/><Relationship Id="rId5" Type="http://schemas.openxmlformats.org/officeDocument/2006/relationships/hyperlink" Target="https://www.nabard.org/" TargetMode="External"/><Relationship Id="rId4" Type="http://schemas.openxmlformats.org/officeDocument/2006/relationships/hyperlink" Target="https://censusindia.gov.in/" TargetMode="External"/><Relationship Id="rId9" Type="http://schemas.openxmlformats.org/officeDocument/2006/relationships/hyperlink" Target="https://pmsuraj.dosje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594360"/>
            <a:ext cx="5577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INDIA</a:t>
            </a:r>
            <a:b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 2026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13232" y="196596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AECDEA"/>
                </a:solidFill>
                <a:latin typeface="Arial"/>
                <a:ea typeface="Arial"/>
                <a:cs typeface="Arial"/>
                <a:sym typeface="Arial"/>
              </a:rPr>
              <a:t>KUMARAGURU — IDEATHON SUBMISSION TEMPLATE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13232" y="265176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DOUBLE DIAMOND</a:t>
            </a:r>
            <a:b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VALIDATION DECK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3858768"/>
            <a:ext cx="8961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PROBLEM STATEMENT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9808" y="4370832"/>
            <a:ext cx="9875520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US" sz="1200" b="0" i="0" u="none" strike="noStrike" cap="none" dirty="0">
                <a:solidFill>
                  <a:srgbClr val="CFDAE6"/>
                </a:solidFill>
                <a:latin typeface="Arial"/>
                <a:ea typeface="Arial"/>
                <a:cs typeface="Arial"/>
                <a:sym typeface="Arial"/>
              </a:rPr>
              <a:t>PS ID: [ SIH26091 ]  |  Theme: [</a:t>
            </a:r>
            <a:r>
              <a:rPr lang="en-IN" sz="1200" b="0" i="0" u="none" strike="noStrike" cap="none" dirty="0" err="1">
                <a:solidFill>
                  <a:srgbClr val="CFDAE6"/>
                </a:solidFill>
                <a:latin typeface="Arial"/>
                <a:ea typeface="Arial"/>
                <a:cs typeface="Arial"/>
                <a:sym typeface="Arial"/>
              </a:rPr>
              <a:t>Agriculture,Foodtech</a:t>
            </a:r>
            <a:r>
              <a:rPr lang="en-IN" sz="1200" b="0" i="0" u="none" strike="noStrike" cap="none" dirty="0">
                <a:solidFill>
                  <a:srgbClr val="CFDAE6"/>
                </a:solidFill>
                <a:latin typeface="Arial"/>
                <a:ea typeface="Arial"/>
                <a:cs typeface="Arial"/>
                <a:sym typeface="Arial"/>
              </a:rPr>
              <a:t> &amp; Rural Development</a:t>
            </a:r>
            <a:r>
              <a:rPr lang="en-US" sz="1200" b="0" i="0" u="none" strike="noStrike" cap="none" dirty="0">
                <a:solidFill>
                  <a:srgbClr val="CFDAE6"/>
                </a:solidFill>
                <a:latin typeface="Arial"/>
                <a:ea typeface="Arial"/>
                <a:cs typeface="Arial"/>
                <a:sym typeface="Arial"/>
              </a:rPr>
              <a:t> ]  |  Team: [ </a:t>
            </a:r>
            <a:r>
              <a:rPr lang="en-US" sz="1200" b="0" i="0" u="none" strike="noStrike" cap="none" dirty="0" err="1">
                <a:solidFill>
                  <a:srgbClr val="CFDAE6"/>
                </a:solidFill>
                <a:latin typeface="Arial"/>
                <a:ea typeface="Arial"/>
                <a:cs typeface="Arial"/>
                <a:sym typeface="Arial"/>
              </a:rPr>
              <a:t>Nexora</a:t>
            </a:r>
            <a:r>
              <a:rPr lang="en-US" sz="1200" b="0" i="0" u="none" strike="noStrike" cap="none" dirty="0">
                <a:solidFill>
                  <a:srgbClr val="CFDAE6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dirty="0"/>
          </a:p>
        </p:txBody>
      </p:sp>
      <p:sp>
        <p:nvSpPr>
          <p:cNvPr id="92" name="Google Shape;92;p1"/>
          <p:cNvSpPr/>
          <p:nvPr/>
        </p:nvSpPr>
        <p:spPr>
          <a:xfrm>
            <a:off x="731520" y="5074920"/>
            <a:ext cx="10744200" cy="658368"/>
          </a:xfrm>
          <a:prstGeom prst="roundRect">
            <a:avLst>
              <a:gd name="adj" fmla="val 16667"/>
            </a:avLst>
          </a:prstGeom>
          <a:solidFill>
            <a:srgbClr val="142B4A"/>
          </a:solidFill>
          <a:ln w="9525" cap="flat" cmpd="sng">
            <a:solidFill>
              <a:srgbClr val="364E6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60120" y="5285232"/>
            <a:ext cx="10241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Ideathon focus: Evaluate the FIRST DIAMOND — Discover + Define — using research data, evidence and clarity of problem framing.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31520" y="6080760"/>
            <a:ext cx="749807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ECDEA"/>
                </a:solidFill>
                <a:latin typeface="Arial"/>
                <a:ea typeface="Arial"/>
                <a:cs typeface="Arial"/>
                <a:sym typeface="Arial"/>
              </a:rPr>
              <a:t>Replace placeholders. Add evidence. Avoid generic claims.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9326880" y="6053328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KUMARAGURU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What We Are Evaluating in the First Ideathon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This ideathon is not to judge your final solution. It is to judge how deeply you have understood the problem.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IDEATHON = FIRST DIAMOND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85800" y="1371600"/>
            <a:ext cx="5166360" cy="40690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106365" y="1382138"/>
            <a:ext cx="4297800" cy="344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DISCOVER + DEFINE</a:t>
            </a:r>
            <a:endParaRPr sz="2000" dirty="0"/>
          </a:p>
        </p:txBody>
      </p:sp>
      <p:sp>
        <p:nvSpPr>
          <p:cNvPr id="111" name="Google Shape;111;p2"/>
          <p:cNvSpPr txBox="1"/>
          <p:nvPr/>
        </p:nvSpPr>
        <p:spPr>
          <a:xfrm>
            <a:off x="1001268" y="1726821"/>
            <a:ext cx="5010912" cy="361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50" b="1" dirty="0"/>
              <a:t>1. User/Stakeholder Evidence</a:t>
            </a:r>
          </a:p>
          <a:p>
            <a:pPr lvl="0"/>
            <a:r>
              <a:rPr lang="en-IN" sz="750" b="1" dirty="0"/>
              <a:t>7.92 Crore</a:t>
            </a:r>
            <a:r>
              <a:rPr lang="en-IN" sz="750" dirty="0"/>
              <a:t> unincorporated rural establishments (</a:t>
            </a:r>
            <a:r>
              <a:rPr lang="en-IN" sz="750" dirty="0" err="1"/>
              <a:t>MoSPI</a:t>
            </a:r>
            <a:r>
              <a:rPr lang="en-IN" sz="750" dirty="0"/>
              <a:t> ASUSE 2023-24).</a:t>
            </a:r>
          </a:p>
          <a:p>
            <a:pPr lvl="0"/>
            <a:r>
              <a:rPr lang="en-IN" sz="750" b="1" dirty="0"/>
              <a:t>99.1%</a:t>
            </a:r>
            <a:r>
              <a:rPr lang="en-IN" sz="750" dirty="0"/>
              <a:t> lack audited books, creating a massive financial blind spot.</a:t>
            </a:r>
          </a:p>
          <a:p>
            <a:pPr lvl="0"/>
            <a:r>
              <a:rPr lang="en-IN" sz="750" b="1" dirty="0"/>
              <a:t>Primary Users:</a:t>
            </a:r>
            <a:r>
              <a:rPr lang="en-IN" sz="750" dirty="0"/>
              <a:t> First-time &amp; existing rural micro-entrepreneurs.</a:t>
            </a:r>
          </a:p>
          <a:p>
            <a:pPr lvl="0"/>
            <a:r>
              <a:rPr lang="en-IN" sz="750" b="1" dirty="0"/>
              <a:t>Secondary Stakeholders:</a:t>
            </a:r>
            <a:r>
              <a:rPr lang="en-IN" sz="750" dirty="0"/>
              <a:t> CSC operators, SHG facilitators, and Bank/SCA loan officers.</a:t>
            </a:r>
          </a:p>
          <a:p>
            <a:r>
              <a:rPr lang="en-IN" sz="750" b="1" dirty="0"/>
              <a:t>2. Existing Solution Study</a:t>
            </a:r>
          </a:p>
          <a:p>
            <a:pPr lvl="0"/>
            <a:r>
              <a:rPr lang="en-IN" sz="750" b="1" dirty="0" err="1"/>
              <a:t>JanSamarth</a:t>
            </a:r>
            <a:r>
              <a:rPr lang="en-IN" sz="750" b="1" dirty="0"/>
              <a:t> / PM-SURAJ:</a:t>
            </a:r>
            <a:r>
              <a:rPr lang="en-IN" sz="750" dirty="0"/>
              <a:t> Excellent for credit access, but ignore local market viability.</a:t>
            </a:r>
          </a:p>
          <a:p>
            <a:pPr lvl="0"/>
            <a:r>
              <a:rPr lang="en-IN" sz="750" b="1" dirty="0"/>
              <a:t>SVEP:</a:t>
            </a:r>
            <a:r>
              <a:rPr lang="en-IN" sz="750" dirty="0"/>
              <a:t> Strong human mentoring, but lacks an instant, data-driven AI layer.</a:t>
            </a:r>
          </a:p>
          <a:p>
            <a:pPr lvl="0"/>
            <a:r>
              <a:rPr lang="en-IN" sz="750" b="1" dirty="0"/>
              <a:t>Udyam / AGMARKNET:</a:t>
            </a:r>
            <a:r>
              <a:rPr lang="en-IN" sz="750" dirty="0"/>
              <a:t> Provide raw data, but require complex manual interpretation.</a:t>
            </a:r>
          </a:p>
          <a:p>
            <a:pPr lvl="0"/>
            <a:r>
              <a:rPr lang="en-IN" sz="750" b="1" dirty="0"/>
              <a:t>The Gap:</a:t>
            </a:r>
            <a:r>
              <a:rPr lang="en-IN" sz="750" dirty="0"/>
              <a:t> No unified, pre-investment decision-support layer exists today.</a:t>
            </a:r>
          </a:p>
          <a:p>
            <a:r>
              <a:rPr lang="en-IN" sz="750" b="1" dirty="0"/>
              <a:t>3. Root Cause Analysis (5 Whys)</a:t>
            </a:r>
          </a:p>
          <a:p>
            <a:pPr lvl="0"/>
            <a:r>
              <a:rPr lang="en-IN" sz="750" b="1" dirty="0"/>
              <a:t>Symptom:</a:t>
            </a:r>
            <a:r>
              <a:rPr lang="en-IN" sz="750" dirty="0"/>
              <a:t> High failure rates and loan defaults in rural micro-enterprises.</a:t>
            </a:r>
          </a:p>
          <a:p>
            <a:pPr lvl="0"/>
            <a:r>
              <a:rPr lang="en-IN" sz="750" b="1" dirty="0"/>
              <a:t>Why?</a:t>
            </a:r>
            <a:r>
              <a:rPr lang="en-IN" sz="750" dirty="0"/>
              <a:t> Poor business choices and underestimated repayment burdens.</a:t>
            </a:r>
          </a:p>
          <a:p>
            <a:pPr lvl="0"/>
            <a:r>
              <a:rPr lang="en-IN" sz="750" b="1" dirty="0"/>
              <a:t>Why?</a:t>
            </a:r>
            <a:r>
              <a:rPr lang="en-IN" sz="750" dirty="0"/>
              <a:t> Lack of structured local market and competitor analysis.</a:t>
            </a:r>
          </a:p>
          <a:p>
            <a:pPr lvl="0"/>
            <a:r>
              <a:rPr lang="en-IN" sz="750" b="1" dirty="0"/>
              <a:t>Why?</a:t>
            </a:r>
            <a:r>
              <a:rPr lang="en-IN" sz="750" dirty="0"/>
              <a:t> Critical data is trapped in disconnected government silos.</a:t>
            </a:r>
          </a:p>
          <a:p>
            <a:pPr lvl="0"/>
            <a:r>
              <a:rPr lang="en-IN" sz="750" b="1" dirty="0"/>
              <a:t>Root Cause:</a:t>
            </a:r>
            <a:r>
              <a:rPr lang="en-IN" sz="750" dirty="0"/>
              <a:t> Absence of an integrated, localized decision-support engine.</a:t>
            </a:r>
          </a:p>
          <a:p>
            <a:r>
              <a:rPr lang="en-IN" sz="750" b="1" dirty="0"/>
              <a:t>4. Constraints &amp; Assumptions</a:t>
            </a:r>
          </a:p>
          <a:p>
            <a:pPr lvl="0"/>
            <a:r>
              <a:rPr lang="en-IN" sz="750" b="1" dirty="0"/>
              <a:t>Data:</a:t>
            </a:r>
            <a:r>
              <a:rPr lang="en-IN" sz="750" dirty="0"/>
              <a:t> Village-level data relies on outdated Census 2011; Udyam misses informal shops.</a:t>
            </a:r>
          </a:p>
          <a:p>
            <a:pPr lvl="0"/>
            <a:r>
              <a:rPr lang="en-IN" sz="750" b="1" dirty="0"/>
              <a:t>Tech:</a:t>
            </a:r>
            <a:r>
              <a:rPr lang="en-IN" sz="750" dirty="0"/>
              <a:t> Must support low-bandwidth, regional languages, and voice UI.</a:t>
            </a:r>
          </a:p>
          <a:p>
            <a:pPr lvl="0"/>
            <a:r>
              <a:rPr lang="en-IN" sz="750" b="1" dirty="0"/>
              <a:t>Financial Safety:</a:t>
            </a:r>
            <a:r>
              <a:rPr lang="en-IN" sz="750" dirty="0"/>
              <a:t> AI </a:t>
            </a:r>
            <a:r>
              <a:rPr lang="en-IN" sz="750" i="1" dirty="0"/>
              <a:t>never</a:t>
            </a:r>
            <a:r>
              <a:rPr lang="en-IN" sz="750" dirty="0"/>
              <a:t> calculates math; uses a 100% deterministic rule engine.</a:t>
            </a:r>
          </a:p>
          <a:p>
            <a:pPr lvl="0"/>
            <a:r>
              <a:rPr lang="en-IN" sz="750" b="1" dirty="0"/>
              <a:t>Assumption:</a:t>
            </a:r>
            <a:r>
              <a:rPr lang="en-IN" sz="750" dirty="0"/>
              <a:t> Proxy math (e.g., Purchasing Power Index) is directionally accurate for feasibility.</a:t>
            </a:r>
          </a:p>
          <a:p>
            <a:r>
              <a:rPr lang="en-IN" sz="750" b="1" dirty="0"/>
              <a:t>5. Reframed Problem Statement</a:t>
            </a:r>
          </a:p>
          <a:p>
            <a:pPr lvl="0"/>
            <a:r>
              <a:rPr lang="en-IN" sz="750" b="1" dirty="0"/>
              <a:t>Original Brief:</a:t>
            </a:r>
            <a:r>
              <a:rPr lang="en-IN" sz="750" dirty="0"/>
              <a:t> "Build an AI chatbot for rural loan discovery."</a:t>
            </a:r>
          </a:p>
          <a:p>
            <a:pPr lvl="0"/>
            <a:r>
              <a:rPr lang="en-IN" sz="750" b="1" dirty="0"/>
              <a:t>Reframed Problem:</a:t>
            </a:r>
            <a:r>
              <a:rPr lang="en-IN" sz="750" dirty="0"/>
              <a:t> "Provide an evidence-backed decision layer to evaluate business feasibility and structure financing </a:t>
            </a:r>
            <a:r>
              <a:rPr lang="en-IN" sz="750" i="1" dirty="0"/>
              <a:t>before</a:t>
            </a:r>
            <a:r>
              <a:rPr lang="en-IN" sz="750" dirty="0"/>
              <a:t> borrowing."</a:t>
            </a:r>
          </a:p>
          <a:p>
            <a:pPr lvl="0"/>
            <a:r>
              <a:rPr lang="en-IN" sz="750" b="1" dirty="0"/>
              <a:t>How Might We:</a:t>
            </a:r>
            <a:r>
              <a:rPr lang="en-IN" sz="750" dirty="0"/>
              <a:t> Help entrepreneurs find the best business/finance fit without navigating fragmented portals?</a:t>
            </a:r>
          </a:p>
          <a:p>
            <a:r>
              <a:rPr lang="en-IN" sz="750" b="1" dirty="0"/>
              <a:t>6. Clear Success Metrics</a:t>
            </a:r>
          </a:p>
          <a:p>
            <a:pPr lvl="0"/>
            <a:r>
              <a:rPr lang="en-IN" sz="750" b="1" dirty="0"/>
              <a:t>Financial Accuracy:</a:t>
            </a:r>
            <a:r>
              <a:rPr lang="en-IN" sz="750" dirty="0"/>
              <a:t> </a:t>
            </a:r>
            <a:r>
              <a:rPr lang="en-IN" sz="750" b="1" dirty="0"/>
              <a:t>100%</a:t>
            </a:r>
            <a:r>
              <a:rPr lang="en-IN" sz="750" dirty="0"/>
              <a:t> deterministic accuracy for EMI, loan, and project cost.</a:t>
            </a:r>
          </a:p>
          <a:p>
            <a:pPr lvl="0"/>
            <a:r>
              <a:rPr lang="en-IN" sz="750" b="1" dirty="0"/>
              <a:t>Transparency:</a:t>
            </a:r>
            <a:r>
              <a:rPr lang="en-IN" sz="750" dirty="0"/>
              <a:t> </a:t>
            </a:r>
            <a:r>
              <a:rPr lang="en-IN" sz="750" b="1" dirty="0"/>
              <a:t>100%</a:t>
            </a:r>
            <a:r>
              <a:rPr lang="en-IN" sz="750" dirty="0"/>
              <a:t> of AI insights display data sources and confidence scores.</a:t>
            </a:r>
          </a:p>
          <a:p>
            <a:pPr lvl="0"/>
            <a:r>
              <a:rPr lang="en-IN" sz="750" b="1" dirty="0"/>
              <a:t>User Comprehension:</a:t>
            </a:r>
            <a:r>
              <a:rPr lang="en-IN" sz="750" dirty="0"/>
              <a:t> </a:t>
            </a:r>
            <a:r>
              <a:rPr lang="en-IN" sz="750" b="1" dirty="0"/>
              <a:t>≥80%</a:t>
            </a:r>
            <a:r>
              <a:rPr lang="en-IN" sz="750" dirty="0"/>
              <a:t> of users correctly explain their loan and EMI burden.</a:t>
            </a:r>
          </a:p>
          <a:p>
            <a:pPr lvl="0"/>
            <a:r>
              <a:rPr lang="en-IN" sz="750" b="1" dirty="0"/>
              <a:t>Time Efficiency:</a:t>
            </a:r>
            <a:r>
              <a:rPr lang="en-IN" sz="750" dirty="0"/>
              <a:t> Reduce multi-day manual assessment to </a:t>
            </a:r>
            <a:r>
              <a:rPr lang="en-IN" sz="750" b="1" dirty="0"/>
              <a:t>&lt;10 minutes</a:t>
            </a:r>
            <a:r>
              <a:rPr lang="en-IN" sz="750" dirty="0"/>
              <a:t>.</a:t>
            </a:r>
          </a:p>
        </p:txBody>
      </p:sp>
      <p:sp>
        <p:nvSpPr>
          <p:cNvPr id="112" name="Google Shape;112;p2"/>
          <p:cNvSpPr/>
          <p:nvPr/>
        </p:nvSpPr>
        <p:spPr>
          <a:xfrm>
            <a:off x="6172200" y="1371600"/>
            <a:ext cx="5303520" cy="40690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446520" y="1691640"/>
            <a:ext cx="2377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553368" y="1453840"/>
            <a:ext cx="4480560" cy="32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WHAT CHANGED AFTER REVIEW?</a:t>
            </a:r>
            <a:endParaRPr sz="1900" dirty="0"/>
          </a:p>
        </p:txBody>
      </p:sp>
      <p:sp>
        <p:nvSpPr>
          <p:cNvPr id="115" name="Google Shape;115;p2"/>
          <p:cNvSpPr txBox="1"/>
          <p:nvPr/>
        </p:nvSpPr>
        <p:spPr>
          <a:xfrm>
            <a:off x="6553368" y="1726821"/>
            <a:ext cx="4343400" cy="322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900" b="1" dirty="0"/>
              <a:t>Problem Framing:</a:t>
            </a:r>
            <a:r>
              <a:rPr lang="en-IN" sz="900" dirty="0"/>
              <a:t> "Build an AI chatbot for loan discovery" ➔ </a:t>
            </a:r>
            <a:r>
              <a:rPr lang="en-IN" sz="900" b="1" dirty="0"/>
              <a:t>"Build a pre-investment decision layer to evaluate feasibility </a:t>
            </a:r>
            <a:r>
              <a:rPr lang="en-IN" sz="900" b="1" i="1" dirty="0"/>
              <a:t>before</a:t>
            </a:r>
            <a:r>
              <a:rPr lang="en-IN" sz="900" b="1" dirty="0"/>
              <a:t> borrowing.“</a:t>
            </a:r>
          </a:p>
          <a:p>
            <a:pPr lvl="0"/>
            <a:endParaRPr lang="en-IN" sz="900" dirty="0"/>
          </a:p>
          <a:p>
            <a:pPr lvl="0"/>
            <a:r>
              <a:rPr lang="en-IN" sz="900" b="1" dirty="0"/>
              <a:t>User Clarity:</a:t>
            </a:r>
            <a:r>
              <a:rPr lang="en-IN" sz="900" dirty="0"/>
              <a:t> Generic "rural entrepreneur" ➔ </a:t>
            </a:r>
            <a:r>
              <a:rPr lang="en-IN" sz="900" b="1" dirty="0"/>
              <a:t>4 distinct personas</a:t>
            </a:r>
            <a:r>
              <a:rPr lang="en-IN" sz="900" dirty="0"/>
              <a:t> (First-time founder, Existing micro-business, SHG member, CSC facilitator) with specific capital ranges.</a:t>
            </a:r>
          </a:p>
          <a:p>
            <a:pPr lvl="0"/>
            <a:endParaRPr lang="en-IN" sz="900" dirty="0"/>
          </a:p>
          <a:p>
            <a:pPr lvl="0"/>
            <a:r>
              <a:rPr lang="en-IN" sz="900" b="1" dirty="0"/>
              <a:t>Evidence Quality:</a:t>
            </a:r>
            <a:r>
              <a:rPr lang="en-IN" sz="900" dirty="0"/>
              <a:t> General statements about "rural poverty" ➔ </a:t>
            </a:r>
            <a:r>
              <a:rPr lang="en-IN" sz="900" b="1" dirty="0"/>
              <a:t>Hard data citations</a:t>
            </a:r>
            <a:r>
              <a:rPr lang="en-IN" sz="900" dirty="0"/>
              <a:t> (</a:t>
            </a:r>
            <a:r>
              <a:rPr lang="en-IN" sz="900" dirty="0" err="1"/>
              <a:t>MoSPI</a:t>
            </a:r>
            <a:r>
              <a:rPr lang="en-IN" sz="900" dirty="0"/>
              <a:t> ASUSE: 7.92 Cr establishments, 99.1% unaudited; PSB Loans: 46.6L sanctioned).</a:t>
            </a:r>
          </a:p>
          <a:p>
            <a:pPr lvl="0"/>
            <a:endParaRPr lang="en-IN" sz="900" dirty="0"/>
          </a:p>
          <a:p>
            <a:pPr lvl="0"/>
            <a:r>
              <a:rPr lang="en-IN" sz="900" b="1" dirty="0"/>
              <a:t>Feasibility:</a:t>
            </a:r>
            <a:r>
              <a:rPr lang="en-IN" sz="900" dirty="0"/>
              <a:t> Pan-India coverage for all businesses </a:t>
            </a:r>
            <a:r>
              <a:rPr lang="en-IN" sz="900" b="1" dirty="0"/>
              <a:t>Scoped MVP:</a:t>
            </a:r>
            <a:r>
              <a:rPr lang="en-IN" sz="900" dirty="0"/>
              <a:t> 1 State, 3 districts, 5 business categories using verifiable proxy math.</a:t>
            </a:r>
          </a:p>
          <a:p>
            <a:pPr lvl="0"/>
            <a:endParaRPr lang="en-IN" sz="900" dirty="0"/>
          </a:p>
          <a:p>
            <a:pPr lvl="0"/>
            <a:r>
              <a:rPr lang="en-IN" sz="900" b="1" dirty="0"/>
              <a:t>Solution Direction:</a:t>
            </a:r>
            <a:r>
              <a:rPr lang="en-IN" sz="900" dirty="0"/>
              <a:t> Single generic AI chatbot ➔ </a:t>
            </a:r>
            <a:r>
              <a:rPr lang="en-IN" sz="900" b="1" dirty="0"/>
              <a:t>Two-Tier Architecture:</a:t>
            </a:r>
            <a:r>
              <a:rPr lang="en-IN" sz="900" dirty="0"/>
              <a:t> Module 1 (AI/Proxy Math for Feasibility) + Module 2 (100% Deterministic Code for Finance).</a:t>
            </a:r>
          </a:p>
          <a:p>
            <a:pPr lvl="0"/>
            <a:endParaRPr lang="en-IN" sz="900" dirty="0"/>
          </a:p>
          <a:p>
            <a:pPr lvl="0"/>
            <a:r>
              <a:rPr lang="en-IN" sz="900" b="1" dirty="0"/>
              <a:t>Prototype Plan:</a:t>
            </a:r>
            <a:r>
              <a:rPr lang="en-IN" sz="900" dirty="0"/>
              <a:t> Vague "build a working app" ➔ </a:t>
            </a:r>
            <a:r>
              <a:rPr lang="en-IN" sz="900" b="1" dirty="0"/>
              <a:t>Specific 3-step demo flow:</a:t>
            </a:r>
            <a:r>
              <a:rPr lang="en-IN" sz="900" dirty="0"/>
              <a:t> Input (Village + ₹1L + Dairy) ➔ Output (Feasibility Score + EMI + Scheme Match).</a:t>
            </a:r>
          </a:p>
          <a:p>
            <a:pPr lvl="0"/>
            <a:endParaRPr lang="en-IN" sz="900" dirty="0"/>
          </a:p>
          <a:p>
            <a:pPr lvl="0"/>
            <a:r>
              <a:rPr lang="en-IN" sz="900" b="1" dirty="0"/>
              <a:t>Pitch Clarity:</a:t>
            </a:r>
            <a:r>
              <a:rPr lang="en-IN" sz="900" dirty="0"/>
              <a:t> Focusing on technical features (React, Python, LLMs) ➔ </a:t>
            </a:r>
            <a:r>
              <a:rPr lang="en-IN" sz="900" b="1" dirty="0"/>
              <a:t>Focusing on core value:</a:t>
            </a:r>
            <a:r>
              <a:rPr lang="en-IN" sz="900" dirty="0"/>
              <a:t> "Explainable AI with confidence scores" and "Zero AI hallucinations in math."</a:t>
            </a:r>
          </a:p>
        </p:txBody>
      </p:sp>
      <p:sp>
        <p:nvSpPr>
          <p:cNvPr id="116" name="Google Shape;116;p2"/>
          <p:cNvSpPr txBox="1"/>
          <p:nvPr/>
        </p:nvSpPr>
        <p:spPr>
          <a:xfrm>
            <a:off x="749808" y="5742432"/>
            <a:ext cx="10561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Rule: The more data you provide, the easier it is for the jury to understand your effort.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Double Diamond Design Methodology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Use this as your SIH problem-solving structure: explore widely, define sharply, then develop and test.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DISCOVER • DEFINE • DEVELOP • DELIVER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cxnSp>
        <p:nvCxnSpPr>
          <p:cNvPr id="130" name="Google Shape;130;p3"/>
          <p:cNvCxnSpPr/>
          <p:nvPr/>
        </p:nvCxnSpPr>
        <p:spPr>
          <a:xfrm>
            <a:off x="822960" y="3337560"/>
            <a:ext cx="10332720" cy="0"/>
          </a:xfrm>
          <a:prstGeom prst="straightConnector1">
            <a:avLst/>
          </a:prstGeom>
          <a:noFill/>
          <a:ln w="19050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1" name="Google Shape;131;p3"/>
          <p:cNvSpPr/>
          <p:nvPr/>
        </p:nvSpPr>
        <p:spPr>
          <a:xfrm>
            <a:off x="1051560" y="1897575"/>
            <a:ext cx="2971800" cy="2971800"/>
          </a:xfrm>
          <a:prstGeom prst="diamond">
            <a:avLst/>
          </a:prstGeom>
          <a:solidFill>
            <a:srgbClr val="135EA8"/>
          </a:solidFill>
          <a:ln w="9525" cap="flat" cmpd="sng">
            <a:solidFill>
              <a:srgbClr val="135EA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794510" y="2750058"/>
            <a:ext cx="14859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705355" y="3226047"/>
            <a:ext cx="1664208" cy="529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800" dirty="0">
                <a:solidFill>
                  <a:schemeClr val="bg1"/>
                </a:solidFill>
              </a:rPr>
              <a:t>Studied </a:t>
            </a:r>
            <a:r>
              <a:rPr lang="en-IN" sz="800" b="1" dirty="0" err="1">
                <a:solidFill>
                  <a:schemeClr val="bg1"/>
                </a:solidFill>
              </a:rPr>
              <a:t>MoSPI</a:t>
            </a:r>
            <a:r>
              <a:rPr lang="en-IN" sz="800" b="1" dirty="0">
                <a:solidFill>
                  <a:schemeClr val="bg1"/>
                </a:solidFill>
              </a:rPr>
              <a:t> ASUSE data</a:t>
            </a:r>
            <a:r>
              <a:rPr lang="en-IN" sz="800" dirty="0">
                <a:solidFill>
                  <a:schemeClr val="bg1"/>
                </a:solidFill>
              </a:rPr>
              <a:t> (7.92 Cr rural establishments).</a:t>
            </a:r>
          </a:p>
          <a:p>
            <a:pPr lvl="0"/>
            <a:r>
              <a:rPr lang="en-IN" sz="800" dirty="0">
                <a:solidFill>
                  <a:schemeClr val="bg1"/>
                </a:solidFill>
              </a:rPr>
              <a:t>Identified </a:t>
            </a:r>
            <a:r>
              <a:rPr lang="en-IN" sz="800" b="1" dirty="0">
                <a:solidFill>
                  <a:schemeClr val="bg1"/>
                </a:solidFill>
              </a:rPr>
              <a:t>4 user personas</a:t>
            </a:r>
            <a:r>
              <a:rPr lang="en-IN" sz="800" dirty="0">
                <a:solidFill>
                  <a:schemeClr val="bg1"/>
                </a:solidFill>
              </a:rPr>
              <a:t> &amp; mapped fragmented data silos.</a:t>
            </a:r>
          </a:p>
        </p:txBody>
      </p:sp>
      <p:sp>
        <p:nvSpPr>
          <p:cNvPr id="134" name="Google Shape;134;p3"/>
          <p:cNvSpPr/>
          <p:nvPr/>
        </p:nvSpPr>
        <p:spPr>
          <a:xfrm>
            <a:off x="3520440" y="1828800"/>
            <a:ext cx="2971800" cy="2971800"/>
          </a:xfrm>
          <a:prstGeom prst="diamond">
            <a:avLst/>
          </a:prstGeom>
          <a:solidFill>
            <a:srgbClr val="00AABE"/>
          </a:solidFill>
          <a:ln w="9525" cap="flat" cmpd="sng">
            <a:solidFill>
              <a:srgbClr val="00AAB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4263390" y="2750058"/>
            <a:ext cx="14859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4174235" y="3164492"/>
            <a:ext cx="1664208" cy="65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800" b="1" dirty="0">
                <a:solidFill>
                  <a:schemeClr val="bg1"/>
                </a:solidFill>
              </a:rPr>
              <a:t>Reframed:</a:t>
            </a:r>
            <a:r>
              <a:rPr lang="en-IN" sz="800" dirty="0">
                <a:solidFill>
                  <a:schemeClr val="bg1"/>
                </a:solidFill>
              </a:rPr>
              <a:t> From </a:t>
            </a:r>
            <a:r>
              <a:rPr lang="en-IN" sz="800" i="1" dirty="0">
                <a:solidFill>
                  <a:schemeClr val="bg1"/>
                </a:solidFill>
              </a:rPr>
              <a:t>"AI chatbot for loans"</a:t>
            </a:r>
            <a:r>
              <a:rPr lang="en-IN" sz="800" dirty="0">
                <a:solidFill>
                  <a:schemeClr val="bg1"/>
                </a:solidFill>
              </a:rPr>
              <a:t> ➔ </a:t>
            </a:r>
            <a:r>
              <a:rPr lang="en-IN" sz="800" i="1" dirty="0">
                <a:solidFill>
                  <a:schemeClr val="bg1"/>
                </a:solidFill>
              </a:rPr>
              <a:t>"Pre-investment decision layer"</a:t>
            </a:r>
            <a:r>
              <a:rPr lang="en-IN" sz="8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IN" sz="800" b="1" dirty="0">
                <a:solidFill>
                  <a:schemeClr val="bg1"/>
                </a:solidFill>
              </a:rPr>
              <a:t>Root Cause:</a:t>
            </a:r>
            <a:r>
              <a:rPr lang="en-IN" sz="800" dirty="0">
                <a:solidFill>
                  <a:schemeClr val="bg1"/>
                </a:solidFill>
              </a:rPr>
              <a:t> Fragmented data prevents informed borrowing.</a:t>
            </a:r>
          </a:p>
        </p:txBody>
      </p:sp>
      <p:sp>
        <p:nvSpPr>
          <p:cNvPr id="137" name="Google Shape;137;p3"/>
          <p:cNvSpPr/>
          <p:nvPr/>
        </p:nvSpPr>
        <p:spPr>
          <a:xfrm>
            <a:off x="5989320" y="1828800"/>
            <a:ext cx="2971800" cy="2971800"/>
          </a:xfrm>
          <a:prstGeom prst="diamond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732270" y="2750058"/>
            <a:ext cx="14859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6673977" y="3055098"/>
            <a:ext cx="1664208" cy="89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b="1" dirty="0">
                <a:solidFill>
                  <a:schemeClr val="bg1"/>
                </a:solidFill>
              </a:rPr>
              <a:t>DEVELOP (Go broad, multiple solution ideas)</a:t>
            </a:r>
          </a:p>
          <a:p>
            <a:pPr lvl="0"/>
            <a:r>
              <a:rPr lang="en-IN" sz="700" dirty="0">
                <a:solidFill>
                  <a:schemeClr val="bg1"/>
                </a:solidFill>
              </a:rPr>
              <a:t>Evaluated </a:t>
            </a:r>
            <a:r>
              <a:rPr lang="en-IN" sz="700" b="1" dirty="0">
                <a:solidFill>
                  <a:schemeClr val="bg1"/>
                </a:solidFill>
              </a:rPr>
              <a:t>3 concepts</a:t>
            </a:r>
            <a:r>
              <a:rPr lang="en-IN" sz="700" dirty="0">
                <a:solidFill>
                  <a:schemeClr val="bg1"/>
                </a:solidFill>
              </a:rPr>
              <a:t>: Chatbot vs. Data Engine vs. Decision Platform.</a:t>
            </a:r>
          </a:p>
          <a:p>
            <a:pPr lvl="0"/>
            <a:r>
              <a:rPr lang="en-IN" sz="700" b="1" dirty="0">
                <a:solidFill>
                  <a:schemeClr val="bg1"/>
                </a:solidFill>
              </a:rPr>
              <a:t>Selected:</a:t>
            </a:r>
            <a:r>
              <a:rPr lang="en-IN" sz="700" dirty="0">
                <a:solidFill>
                  <a:schemeClr val="bg1"/>
                </a:solidFill>
              </a:rPr>
              <a:t> </a:t>
            </a:r>
            <a:r>
              <a:rPr lang="en-IN" sz="700" i="1" dirty="0">
                <a:solidFill>
                  <a:schemeClr val="bg1"/>
                </a:solidFill>
              </a:rPr>
              <a:t>"</a:t>
            </a:r>
            <a:r>
              <a:rPr lang="en-IN" sz="700" i="1" dirty="0" err="1">
                <a:solidFill>
                  <a:schemeClr val="bg1"/>
                </a:solidFill>
              </a:rPr>
              <a:t>GramSahayak</a:t>
            </a:r>
            <a:r>
              <a:rPr lang="en-IN" sz="700" i="1" dirty="0">
                <a:solidFill>
                  <a:schemeClr val="bg1"/>
                </a:solidFill>
              </a:rPr>
              <a:t> AI"</a:t>
            </a:r>
            <a:r>
              <a:rPr lang="en-IN" sz="700" dirty="0">
                <a:solidFill>
                  <a:schemeClr val="bg1"/>
                </a:solidFill>
              </a:rPr>
              <a:t> (Two-Tier Architecture).</a:t>
            </a:r>
          </a:p>
          <a:p>
            <a:pPr lvl="0"/>
            <a:r>
              <a:rPr lang="en-IN" sz="700" b="1" dirty="0">
                <a:solidFill>
                  <a:schemeClr val="bg1"/>
                </a:solidFill>
              </a:rPr>
              <a:t>Module 1:</a:t>
            </a:r>
            <a:r>
              <a:rPr lang="en-IN" sz="700" dirty="0">
                <a:solidFill>
                  <a:schemeClr val="bg1"/>
                </a:solidFill>
              </a:rPr>
              <a:t> AI/Proxy Math for feasibility. </a:t>
            </a:r>
            <a:r>
              <a:rPr lang="en-IN" sz="700" b="1" dirty="0">
                <a:solidFill>
                  <a:schemeClr val="bg1"/>
                </a:solidFill>
              </a:rPr>
              <a:t>Module 2:</a:t>
            </a:r>
            <a:r>
              <a:rPr lang="en-IN" sz="700" dirty="0">
                <a:solidFill>
                  <a:schemeClr val="bg1"/>
                </a:solidFill>
              </a:rPr>
              <a:t> Deterministic Finance.</a:t>
            </a:r>
          </a:p>
        </p:txBody>
      </p:sp>
      <p:sp>
        <p:nvSpPr>
          <p:cNvPr id="140" name="Google Shape;140;p3"/>
          <p:cNvSpPr/>
          <p:nvPr/>
        </p:nvSpPr>
        <p:spPr>
          <a:xfrm>
            <a:off x="8458200" y="1828800"/>
            <a:ext cx="2971800" cy="2971800"/>
          </a:xfrm>
          <a:prstGeom prst="diamond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9201150" y="2750058"/>
            <a:ext cx="14859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9201150" y="3128850"/>
            <a:ext cx="1664208" cy="68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600" b="1" dirty="0">
                <a:solidFill>
                  <a:schemeClr val="bg1"/>
                </a:solidFill>
              </a:rPr>
              <a:t>DELIVER (Converge, test &amp; improve)</a:t>
            </a:r>
          </a:p>
          <a:p>
            <a:pPr lvl="0"/>
            <a:r>
              <a:rPr lang="en-IN" sz="600" b="1" dirty="0">
                <a:solidFill>
                  <a:schemeClr val="bg1"/>
                </a:solidFill>
              </a:rPr>
              <a:t>Scoped MVP:</a:t>
            </a:r>
            <a:r>
              <a:rPr lang="en-IN" sz="600" dirty="0">
                <a:solidFill>
                  <a:schemeClr val="bg1"/>
                </a:solidFill>
              </a:rPr>
              <a:t> 1 State, 5 villages, 5 business categories.</a:t>
            </a:r>
          </a:p>
          <a:p>
            <a:pPr lvl="0"/>
            <a:r>
              <a:rPr lang="en-IN" sz="600" b="1" dirty="0">
                <a:solidFill>
                  <a:schemeClr val="bg1"/>
                </a:solidFill>
              </a:rPr>
              <a:t>Demo Flow:</a:t>
            </a:r>
            <a:r>
              <a:rPr lang="en-IN" sz="600" dirty="0">
                <a:solidFill>
                  <a:schemeClr val="bg1"/>
                </a:solidFill>
              </a:rPr>
              <a:t> Input (Village + Capital) ➔ Output (Feasibility + EMI + Scheme).</a:t>
            </a:r>
          </a:p>
          <a:p>
            <a:pPr lvl="0"/>
            <a:r>
              <a:rPr lang="en-IN" sz="600" b="1" dirty="0">
                <a:solidFill>
                  <a:schemeClr val="bg1"/>
                </a:solidFill>
              </a:rPr>
              <a:t>Validation:</a:t>
            </a:r>
            <a:r>
              <a:rPr lang="en-IN" sz="600" dirty="0">
                <a:solidFill>
                  <a:schemeClr val="bg1"/>
                </a:solidFill>
              </a:rPr>
              <a:t> Tested financial logic &amp; proxy math with domain experts.</a:t>
            </a:r>
          </a:p>
        </p:txBody>
      </p:sp>
      <p:sp>
        <p:nvSpPr>
          <p:cNvPr id="143" name="Google Shape;143;p3"/>
          <p:cNvSpPr txBox="1"/>
          <p:nvPr/>
        </p:nvSpPr>
        <p:spPr>
          <a:xfrm>
            <a:off x="1645920" y="519379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FIRST IDEATHON EVALUATION AREA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1325880" y="5047488"/>
            <a:ext cx="5257800" cy="73152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6492240" y="51937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ITERATED SOLUTION AREA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419088" y="5047488"/>
            <a:ext cx="4498848" cy="73152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713232" y="5989320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Do not jump to the second diamond before proving the first diamond.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DISCOVER: Data You Must Bring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Use this slide to prove that your team has done real problem discovery.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FIRST DIAMOND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685800" y="1389888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868680" y="153619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User / stakeholder conversations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868680" y="1865376"/>
            <a:ext cx="2971800" cy="57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b="1" dirty="0"/>
              <a:t>Key Patterns:</a:t>
            </a:r>
            <a:endParaRPr lang="en-IN" sz="700" dirty="0"/>
          </a:p>
          <a:p>
            <a:pPr lvl="0"/>
            <a:r>
              <a:rPr lang="en-IN" sz="700" dirty="0"/>
              <a:t>"I didn't know how much loan I actually needed" – Entrepreneur</a:t>
            </a:r>
            <a:br>
              <a:rPr lang="en-IN" sz="700" dirty="0"/>
            </a:br>
            <a:r>
              <a:rPr lang="en-IN" sz="700" dirty="0"/>
              <a:t>what all are the recent updates in my </a:t>
            </a:r>
            <a:r>
              <a:rPr lang="en-IN" sz="700" dirty="0" err="1"/>
              <a:t>buesness</a:t>
            </a:r>
            <a:endParaRPr lang="en-IN" sz="700" dirty="0"/>
          </a:p>
          <a:p>
            <a:r>
              <a:rPr lang="en-IN" sz="700" dirty="0"/>
              <a:t>"We manually check 4-5 portals for each applicant" - CSC Operator</a:t>
            </a:r>
          </a:p>
          <a:p>
            <a:pPr lvl="0"/>
            <a:endParaRPr lang="en-IN" sz="700" dirty="0"/>
          </a:p>
        </p:txBody>
      </p:sp>
      <p:sp>
        <p:nvSpPr>
          <p:cNvPr id="164" name="Google Shape;164;p4"/>
          <p:cNvSpPr/>
          <p:nvPr/>
        </p:nvSpPr>
        <p:spPr>
          <a:xfrm>
            <a:off x="4416552" y="1389888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4599432" y="153619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Field / context observation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4599432" y="1865376"/>
            <a:ext cx="2971800" cy="79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b="1" dirty="0"/>
              <a:t>Constraints Observed:</a:t>
            </a:r>
            <a:endParaRPr lang="en-IN" sz="700" dirty="0"/>
          </a:p>
          <a:p>
            <a:pPr lvl="0"/>
            <a:r>
              <a:rPr lang="en-IN" sz="700" dirty="0"/>
              <a:t>Low digital literacy; preference for voice/regional language</a:t>
            </a:r>
          </a:p>
          <a:p>
            <a:pPr lvl="0"/>
            <a:r>
              <a:rPr lang="en-IN" sz="700" dirty="0"/>
              <a:t>Unstable internet connectivity in villages</a:t>
            </a:r>
          </a:p>
          <a:p>
            <a:pPr lvl="0"/>
            <a:r>
              <a:rPr lang="en-IN" sz="700" dirty="0"/>
              <a:t>Entrepreneurs rely on anecdotal success, not market data</a:t>
            </a:r>
          </a:p>
          <a:p>
            <a:pPr lvl="0"/>
            <a:r>
              <a:rPr lang="en-IN" sz="700" dirty="0"/>
              <a:t>No access to competitor/demand information before starting</a:t>
            </a:r>
          </a:p>
          <a:p>
            <a:r>
              <a:rPr lang="en-IN" sz="700" b="1" dirty="0"/>
              <a:t>Evidence:</a:t>
            </a:r>
            <a:r>
              <a:rPr lang="en-IN" sz="700" dirty="0"/>
              <a:t> Screenshots of fragmented portals (</a:t>
            </a:r>
            <a:r>
              <a:rPr lang="en-IN" sz="700" dirty="0" err="1"/>
              <a:t>JanSamarth</a:t>
            </a:r>
            <a:r>
              <a:rPr lang="en-IN" sz="700" dirty="0"/>
              <a:t>, Udyam, AGMARKNET)</a:t>
            </a:r>
          </a:p>
        </p:txBody>
      </p:sp>
      <p:sp>
        <p:nvSpPr>
          <p:cNvPr id="167" name="Google Shape;167;p4"/>
          <p:cNvSpPr/>
          <p:nvPr/>
        </p:nvSpPr>
        <p:spPr>
          <a:xfrm>
            <a:off x="8138160" y="1389888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321040" y="153619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Secondary research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8321040" y="1865376"/>
            <a:ext cx="297180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800" b="1" dirty="0"/>
              <a:t>Census 2011:</a:t>
            </a:r>
            <a:r>
              <a:rPr lang="en-IN" sz="800" dirty="0"/>
              <a:t> Village-level population &amp; household data</a:t>
            </a:r>
          </a:p>
          <a:p>
            <a:r>
              <a:rPr lang="en-IN" sz="800" b="1" dirty="0"/>
              <a:t>Udyam Dashboard:</a:t>
            </a:r>
            <a:r>
              <a:rPr lang="en-IN" sz="800" dirty="0"/>
              <a:t> 5.34 Cr MSME registrations</a:t>
            </a:r>
          </a:p>
          <a:p>
            <a:pPr lvl="0"/>
            <a:endParaRPr lang="en-IN" sz="800" dirty="0"/>
          </a:p>
        </p:txBody>
      </p:sp>
      <p:sp>
        <p:nvSpPr>
          <p:cNvPr id="170" name="Google Shape;170;p4"/>
          <p:cNvSpPr/>
          <p:nvPr/>
        </p:nvSpPr>
        <p:spPr>
          <a:xfrm>
            <a:off x="685800" y="3063240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868680" y="32095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Quantitative data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868680" y="3538728"/>
            <a:ext cx="2971800" cy="111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b="1" dirty="0"/>
              <a:t>Scale &amp; Impact:</a:t>
            </a:r>
            <a:endParaRPr lang="en-IN" sz="700" dirty="0"/>
          </a:p>
          <a:p>
            <a:pPr lvl="0"/>
            <a:r>
              <a:rPr lang="en-IN" sz="700" b="1" dirty="0"/>
              <a:t>7.92 Crore</a:t>
            </a:r>
            <a:r>
              <a:rPr lang="en-IN" sz="700" dirty="0"/>
              <a:t> rural unincorporated establishments</a:t>
            </a:r>
          </a:p>
          <a:p>
            <a:pPr lvl="0"/>
            <a:r>
              <a:rPr lang="en-IN" sz="700" b="1" dirty="0"/>
              <a:t>99.1%</a:t>
            </a:r>
            <a:r>
              <a:rPr lang="en-IN" sz="700" dirty="0"/>
              <a:t> don't maintain audited books</a:t>
            </a:r>
          </a:p>
          <a:p>
            <a:pPr lvl="0"/>
            <a:r>
              <a:rPr lang="en-IN" sz="700" b="1" dirty="0"/>
              <a:t>₹333 Billion</a:t>
            </a:r>
            <a:r>
              <a:rPr lang="en-IN" sz="700" dirty="0"/>
              <a:t> MSME credit gap (IFC estimate)</a:t>
            </a:r>
          </a:p>
          <a:p>
            <a:pPr lvl="0"/>
            <a:r>
              <a:rPr lang="en-IN" sz="700" b="1" dirty="0"/>
              <a:t>68%</a:t>
            </a:r>
            <a:r>
              <a:rPr lang="en-IN" sz="700" dirty="0"/>
              <a:t> rural micro-enterprises fail within 3 years</a:t>
            </a:r>
          </a:p>
          <a:p>
            <a:pPr lvl="0"/>
            <a:r>
              <a:rPr lang="en-IN" sz="700" b="1" dirty="0"/>
              <a:t>51.3%</a:t>
            </a:r>
            <a:r>
              <a:rPr lang="en-IN" sz="700" dirty="0"/>
              <a:t> rural financial literacy (up from 33.9%)</a:t>
            </a:r>
          </a:p>
          <a:p>
            <a:pPr lvl="0"/>
            <a:r>
              <a:rPr lang="en-IN" sz="700" b="1" dirty="0"/>
              <a:t>Time Wasted:</a:t>
            </a:r>
            <a:r>
              <a:rPr lang="en-IN" sz="700" dirty="0"/>
              <a:t> 3-5 days manually navigating multiple portals per application</a:t>
            </a:r>
          </a:p>
          <a:p>
            <a:br>
              <a:rPr lang="en-IN" sz="700" dirty="0"/>
            </a:br>
            <a:endParaRPr sz="700" dirty="0"/>
          </a:p>
        </p:txBody>
      </p:sp>
      <p:sp>
        <p:nvSpPr>
          <p:cNvPr id="173" name="Google Shape;173;p4"/>
          <p:cNvSpPr/>
          <p:nvPr/>
        </p:nvSpPr>
        <p:spPr>
          <a:xfrm>
            <a:off x="4416552" y="3063240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4599432" y="32095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Current workflow / journey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4594860" y="3453863"/>
            <a:ext cx="2971800" cy="89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dirty="0"/>
              <a:t>1️⃣ </a:t>
            </a:r>
            <a:r>
              <a:rPr lang="en-IN" sz="700" b="1" dirty="0"/>
              <a:t>Input Idea &amp; Capital</a:t>
            </a:r>
            <a:r>
              <a:rPr lang="en-IN" sz="700" dirty="0"/>
              <a:t> User enters their business idea (e.g., Dairy) and available savings.</a:t>
            </a:r>
          </a:p>
          <a:p>
            <a:r>
              <a:rPr lang="en-IN" sz="700" dirty="0"/>
              <a:t>2️⃣ </a:t>
            </a:r>
            <a:r>
              <a:rPr lang="en-IN" sz="700" b="1" dirty="0"/>
              <a:t>Gain Instant Insights</a:t>
            </a:r>
            <a:r>
              <a:rPr lang="en-IN" sz="700" dirty="0"/>
              <a:t> App reveals local market demand, competitor density, and exact EMI/loan routing.</a:t>
            </a:r>
          </a:p>
          <a:p>
            <a:r>
              <a:rPr lang="en-IN" sz="700" dirty="0"/>
              <a:t>3️⃣ </a:t>
            </a:r>
            <a:r>
              <a:rPr lang="en-IN" sz="700" b="1" dirty="0"/>
              <a:t>Make Informed Decision</a:t>
            </a:r>
            <a:r>
              <a:rPr lang="en-IN" sz="700" dirty="0"/>
              <a:t> User reviews the feasibility score and SWOT analysis </a:t>
            </a:r>
            <a:r>
              <a:rPr lang="en-IN" sz="700" i="1" dirty="0"/>
              <a:t>before</a:t>
            </a:r>
            <a:r>
              <a:rPr lang="en-IN" sz="700" dirty="0"/>
              <a:t> committing money.</a:t>
            </a:r>
          </a:p>
          <a:p>
            <a:r>
              <a:rPr lang="en-IN" sz="700" dirty="0"/>
              <a:t>4️⃣ </a:t>
            </a:r>
            <a:r>
              <a:rPr lang="en-IN" sz="700" b="1" dirty="0"/>
              <a:t>Confident Implementation</a:t>
            </a:r>
            <a:r>
              <a:rPr lang="en-IN" sz="700" dirty="0"/>
              <a:t> User receives a clear action plan and direct link to apply for the matched government scheme.</a:t>
            </a:r>
          </a:p>
        </p:txBody>
      </p:sp>
      <p:sp>
        <p:nvSpPr>
          <p:cNvPr id="176" name="Google Shape;176;p4"/>
          <p:cNvSpPr/>
          <p:nvPr/>
        </p:nvSpPr>
        <p:spPr>
          <a:xfrm>
            <a:off x="8138160" y="3021423"/>
            <a:ext cx="3337560" cy="137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321040" y="3145193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 dirty="0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Assumptions to validate</a:t>
            </a:r>
            <a:endParaRPr dirty="0"/>
          </a:p>
        </p:txBody>
      </p:sp>
      <p:sp>
        <p:nvSpPr>
          <p:cNvPr id="178" name="Google Shape;178;p4"/>
          <p:cNvSpPr txBox="1"/>
          <p:nvPr/>
        </p:nvSpPr>
        <p:spPr>
          <a:xfrm>
            <a:off x="8302752" y="3333590"/>
            <a:ext cx="2971800" cy="106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670" dirty="0"/>
              <a:t>Entrepreneurs pick business ideas based on word-of-mouth, not data. </a:t>
            </a:r>
            <a:r>
              <a:rPr lang="en-IN" sz="670" b="1" dirty="0"/>
              <a:t>Status:</a:t>
            </a:r>
            <a:r>
              <a:rPr lang="en-IN" sz="670" dirty="0"/>
              <a:t> ✅ </a:t>
            </a:r>
            <a:r>
              <a:rPr lang="en-IN" sz="670" b="1" dirty="0"/>
              <a:t>Proven</a:t>
            </a:r>
            <a:r>
              <a:rPr lang="en-IN" sz="670" dirty="0"/>
              <a:t> (via secondary research)</a:t>
            </a:r>
          </a:p>
          <a:p>
            <a:pPr lvl="0"/>
            <a:r>
              <a:rPr lang="en-IN" sz="670" dirty="0"/>
              <a:t>Current government portals are too complex/fragmented for rural users. </a:t>
            </a:r>
            <a:r>
              <a:rPr lang="en-IN" sz="670" b="1" dirty="0"/>
              <a:t>Status:</a:t>
            </a:r>
            <a:r>
              <a:rPr lang="en-IN" sz="670" dirty="0"/>
              <a:t> ✅ </a:t>
            </a:r>
            <a:r>
              <a:rPr lang="en-IN" sz="670" b="1" dirty="0"/>
              <a:t>Proven</a:t>
            </a:r>
            <a:r>
              <a:rPr lang="en-IN" sz="670" dirty="0"/>
              <a:t> (via UX analysis)</a:t>
            </a:r>
          </a:p>
          <a:p>
            <a:pPr lvl="0"/>
            <a:r>
              <a:rPr lang="en-IN" sz="670" dirty="0"/>
              <a:t>Proxy math (Census/OSM data) accurately predicts village-level demand. </a:t>
            </a:r>
            <a:r>
              <a:rPr lang="en-IN" sz="670" b="1" dirty="0"/>
              <a:t>Status:</a:t>
            </a:r>
            <a:r>
              <a:rPr lang="en-IN" sz="670" dirty="0"/>
              <a:t> 🔶 </a:t>
            </a:r>
            <a:r>
              <a:rPr lang="en-IN" sz="670" b="1" dirty="0"/>
              <a:t>Unproven</a:t>
            </a:r>
            <a:r>
              <a:rPr lang="en-IN" sz="670" dirty="0"/>
              <a:t> (Needs pilot testing)</a:t>
            </a:r>
          </a:p>
          <a:p>
            <a:pPr lvl="0"/>
            <a:r>
              <a:rPr lang="en-IN" sz="670" dirty="0"/>
              <a:t>Rural users will trust a digital app for financial advice over local agents. </a:t>
            </a:r>
            <a:r>
              <a:rPr lang="en-IN" sz="670" b="1" dirty="0"/>
              <a:t>Status:</a:t>
            </a:r>
            <a:r>
              <a:rPr lang="en-IN" sz="670" dirty="0"/>
              <a:t> ⚠️ </a:t>
            </a:r>
            <a:r>
              <a:rPr lang="en-IN" sz="670" b="1" dirty="0"/>
              <a:t>Risky</a:t>
            </a:r>
            <a:r>
              <a:rPr lang="en-IN" sz="670" dirty="0"/>
              <a:t> (Requires voice UI &amp; local language)</a:t>
            </a:r>
          </a:p>
          <a:p>
            <a:pPr lvl="0"/>
            <a:r>
              <a:rPr lang="en-IN" sz="670" dirty="0"/>
              <a:t>Users have at least 10% margin capital to qualify for schemes. </a:t>
            </a:r>
            <a:r>
              <a:rPr lang="en-IN" sz="670" b="1" dirty="0"/>
              <a:t>Status:</a:t>
            </a:r>
            <a:r>
              <a:rPr lang="en-IN" sz="670" dirty="0"/>
              <a:t> ✅ </a:t>
            </a:r>
            <a:r>
              <a:rPr lang="en-IN" sz="670" b="1" dirty="0"/>
              <a:t>Proven</a:t>
            </a:r>
            <a:r>
              <a:rPr lang="en-IN" sz="670" dirty="0"/>
              <a:t> (Aligns with PMEGP/PM-SURAJ rules)</a:t>
            </a:r>
          </a:p>
        </p:txBody>
      </p:sp>
      <p:sp>
        <p:nvSpPr>
          <p:cNvPr id="179" name="Google Shape;179;p4"/>
          <p:cNvSpPr/>
          <p:nvPr/>
        </p:nvSpPr>
        <p:spPr>
          <a:xfrm>
            <a:off x="685800" y="4882896"/>
            <a:ext cx="10789920" cy="566928"/>
          </a:xfrm>
          <a:prstGeom prst="roundRect">
            <a:avLst>
              <a:gd name="adj" fmla="val 16667"/>
            </a:avLst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96112" y="5084064"/>
            <a:ext cx="103784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Minimum expectation: Do not submit only opinions. Submit observations, interviews, data, screenshots, sources and clear evidence.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User &amp; Stakeholder Evidence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Show who actually experiences the problem and what you learned from them.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DATA SLIDE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85800" y="1417320"/>
            <a:ext cx="2926080" cy="1344168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68680" y="156362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Primary user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68680" y="1892808"/>
            <a:ext cx="2560320" cy="79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b="1" dirty="0"/>
              <a:t>Who:</a:t>
            </a:r>
            <a:r>
              <a:rPr lang="en-IN" sz="700" dirty="0"/>
              <a:t> First-time rural micro-entrepreneur</a:t>
            </a:r>
          </a:p>
          <a:p>
            <a:pPr lvl="0"/>
            <a:r>
              <a:rPr lang="en-IN" sz="700" b="1" dirty="0"/>
              <a:t>Age:</a:t>
            </a:r>
            <a:r>
              <a:rPr lang="en-IN" sz="700" dirty="0"/>
              <a:t> 22-45 years</a:t>
            </a:r>
          </a:p>
          <a:p>
            <a:pPr lvl="0"/>
            <a:r>
              <a:rPr lang="en-IN" sz="700" b="1" dirty="0"/>
              <a:t>Location:</a:t>
            </a:r>
            <a:r>
              <a:rPr lang="en-IN" sz="700" dirty="0"/>
              <a:t> Rural/semi-urban villages (Tier 3/4)</a:t>
            </a:r>
          </a:p>
          <a:p>
            <a:pPr lvl="0"/>
            <a:r>
              <a:rPr lang="en-IN" sz="700" b="1" dirty="0"/>
              <a:t>Capital:</a:t>
            </a:r>
            <a:r>
              <a:rPr lang="en-IN" sz="700" dirty="0"/>
              <a:t> ₹10,000 - ₹5,00,000 savings</a:t>
            </a:r>
          </a:p>
          <a:p>
            <a:pPr lvl="0"/>
            <a:r>
              <a:rPr lang="en-IN" sz="700" b="1" dirty="0"/>
              <a:t>Education:</a:t>
            </a:r>
            <a:r>
              <a:rPr lang="en-IN" sz="700" dirty="0"/>
              <a:t> 10th pass to graduate</a:t>
            </a:r>
          </a:p>
          <a:p>
            <a:pPr lvl="0"/>
            <a:r>
              <a:rPr lang="en-IN" sz="700" b="1" dirty="0"/>
              <a:t>Context:</a:t>
            </a:r>
            <a:r>
              <a:rPr lang="en-IN" sz="700" dirty="0"/>
              <a:t> Wants to start dairy, retail, tailoring, or food processing unit but lacks market data and financial clarity</a:t>
            </a:r>
          </a:p>
        </p:txBody>
      </p:sp>
      <p:sp>
        <p:nvSpPr>
          <p:cNvPr id="197" name="Google Shape;197;p5"/>
          <p:cNvSpPr/>
          <p:nvPr/>
        </p:nvSpPr>
        <p:spPr>
          <a:xfrm>
            <a:off x="3840480" y="1417320"/>
            <a:ext cx="2926080" cy="1344168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4023360" y="156362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Secondary stakeholders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4023360" y="1892808"/>
            <a:ext cx="2560320" cy="68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700" b="1" dirty="0"/>
              <a:t>CSC Operators:</a:t>
            </a:r>
            <a:r>
              <a:rPr lang="en-IN" sz="700" dirty="0"/>
              <a:t> Help entrepreneurs fill loan applications</a:t>
            </a:r>
          </a:p>
          <a:p>
            <a:pPr lvl="0"/>
            <a:r>
              <a:rPr lang="en-IN" sz="700" b="1" dirty="0"/>
              <a:t>SHG Facilitators:</a:t>
            </a:r>
            <a:r>
              <a:rPr lang="en-IN" sz="700" dirty="0"/>
              <a:t> Guide women entrepreneurs in groups</a:t>
            </a:r>
          </a:p>
          <a:p>
            <a:pPr lvl="0"/>
            <a:r>
              <a:rPr lang="en-IN" sz="700" b="1" dirty="0"/>
              <a:t>Bank Loan Officers:</a:t>
            </a:r>
            <a:r>
              <a:rPr lang="en-IN" sz="700" dirty="0"/>
              <a:t> Process and approve scheme applications</a:t>
            </a:r>
          </a:p>
          <a:p>
            <a:pPr lvl="0"/>
            <a:r>
              <a:rPr lang="en-IN" sz="700" b="1" dirty="0"/>
              <a:t>Family Members:</a:t>
            </a:r>
            <a:r>
              <a:rPr lang="en-IN" sz="700" dirty="0"/>
              <a:t> Co-signers or financial supporters</a:t>
            </a:r>
          </a:p>
          <a:p>
            <a:pPr lvl="0"/>
            <a:r>
              <a:rPr lang="en-IN" sz="700" b="1" dirty="0"/>
              <a:t>Local Suppliers:</a:t>
            </a:r>
            <a:r>
              <a:rPr lang="en-IN" sz="700" dirty="0"/>
              <a:t> Provide raw materials/inventory</a:t>
            </a:r>
          </a:p>
        </p:txBody>
      </p:sp>
      <p:sp>
        <p:nvSpPr>
          <p:cNvPr id="200" name="Google Shape;200;p5"/>
          <p:cNvSpPr/>
          <p:nvPr/>
        </p:nvSpPr>
        <p:spPr>
          <a:xfrm>
            <a:off x="6995160" y="1417320"/>
            <a:ext cx="2148840" cy="139903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7178040" y="145847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 dirty="0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Decision maker / adopter</a:t>
            </a:r>
            <a:endParaRPr dirty="0"/>
          </a:p>
        </p:txBody>
      </p:sp>
      <p:sp>
        <p:nvSpPr>
          <p:cNvPr id="202" name="Google Shape;202;p5"/>
          <p:cNvSpPr txBox="1"/>
          <p:nvPr/>
        </p:nvSpPr>
        <p:spPr>
          <a:xfrm>
            <a:off x="7178040" y="1837944"/>
            <a:ext cx="1864360" cy="84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750" b="1" dirty="0"/>
              <a:t>Ministry of Social Justice &amp; Empowerment (</a:t>
            </a:r>
            <a:r>
              <a:rPr lang="en-IN" sz="750" b="1" dirty="0" err="1"/>
              <a:t>MoSJE</a:t>
            </a:r>
            <a:r>
              <a:rPr lang="en-IN" sz="750" b="1" dirty="0"/>
              <a:t>):</a:t>
            </a:r>
            <a:r>
              <a:rPr lang="en-IN" sz="750" dirty="0"/>
              <a:t> Policy approval</a:t>
            </a:r>
          </a:p>
          <a:p>
            <a:pPr lvl="0"/>
            <a:r>
              <a:rPr lang="en-IN" sz="750" b="1" dirty="0"/>
              <a:t>State Channelizing Agencies (SCAs):</a:t>
            </a:r>
            <a:r>
              <a:rPr lang="en-IN" sz="750" dirty="0"/>
              <a:t> Implementation &amp; deployment</a:t>
            </a:r>
          </a:p>
          <a:p>
            <a:pPr lvl="0"/>
            <a:r>
              <a:rPr lang="en-IN" sz="750" b="1" dirty="0"/>
              <a:t>NSFDC/NBCFDC:</a:t>
            </a:r>
            <a:r>
              <a:rPr lang="en-IN" sz="750" dirty="0"/>
              <a:t> Scheme administration</a:t>
            </a:r>
          </a:p>
          <a:p>
            <a:pPr lvl="0"/>
            <a:r>
              <a:rPr lang="en-IN" sz="750" b="1" dirty="0"/>
              <a:t>District Rural Development Agencies (DRDAs):</a:t>
            </a:r>
            <a:r>
              <a:rPr lang="en-IN" sz="750" dirty="0"/>
              <a:t> Ground-level rollout</a:t>
            </a:r>
          </a:p>
        </p:txBody>
      </p:sp>
      <p:sp>
        <p:nvSpPr>
          <p:cNvPr id="203" name="Google Shape;203;p5"/>
          <p:cNvSpPr/>
          <p:nvPr/>
        </p:nvSpPr>
        <p:spPr>
          <a:xfrm>
            <a:off x="9345168" y="1417320"/>
            <a:ext cx="2130552" cy="139903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9528048" y="1563624"/>
            <a:ext cx="1764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Expert consulted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9528048" y="1892808"/>
            <a:ext cx="1764792" cy="79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700" b="1" dirty="0"/>
              <a:t>CSC Operator (Online Research):</a:t>
            </a:r>
            <a:r>
              <a:rPr lang="en-IN" sz="700" dirty="0"/>
              <a:t> Understood portal complexity</a:t>
            </a:r>
          </a:p>
          <a:p>
            <a:pPr lvl="0"/>
            <a:r>
              <a:rPr lang="en-IN" sz="700" b="1" dirty="0"/>
              <a:t>Banking Professional:</a:t>
            </a:r>
            <a:r>
              <a:rPr lang="en-IN" sz="700" dirty="0"/>
              <a:t> Clarified EMI calculation &amp; moratorium rules</a:t>
            </a:r>
          </a:p>
          <a:p>
            <a:pPr lvl="0"/>
            <a:r>
              <a:rPr lang="en-IN" sz="700" b="1" dirty="0"/>
              <a:t>SIH Mentor:</a:t>
            </a:r>
            <a:r>
              <a:rPr lang="en-IN" sz="700" dirty="0"/>
              <a:t> Validated problem-solution fit</a:t>
            </a:r>
          </a:p>
          <a:p>
            <a:br>
              <a:rPr lang="en-IN" sz="700" dirty="0"/>
            </a:br>
            <a:endParaRPr sz="700" dirty="0"/>
          </a:p>
        </p:txBody>
      </p:sp>
      <p:sp>
        <p:nvSpPr>
          <p:cNvPr id="206" name="Google Shape;206;p5"/>
          <p:cNvSpPr/>
          <p:nvPr/>
        </p:nvSpPr>
        <p:spPr>
          <a:xfrm>
            <a:off x="685800" y="2926080"/>
            <a:ext cx="5257800" cy="164592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868680" y="307238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Interview insights / quotes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68680" y="3401568"/>
            <a:ext cx="4892040" cy="57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700" b="1" dirty="0"/>
              <a:t>"I took a ₹3L loan for my dairy, but didn't know feed costs would eat 60% of my revenue."</a:t>
            </a:r>
            <a:r>
              <a:rPr lang="en-IN" sz="700" dirty="0"/>
              <a:t> → </a:t>
            </a:r>
            <a:r>
              <a:rPr lang="en-IN" sz="700" i="1" dirty="0"/>
              <a:t>Pain:</a:t>
            </a:r>
            <a:r>
              <a:rPr lang="en-IN" sz="700" dirty="0"/>
              <a:t> No working capital planning</a:t>
            </a:r>
          </a:p>
          <a:p>
            <a:pPr lvl="0"/>
            <a:br>
              <a:rPr lang="en-IN" sz="700" b="1" dirty="0"/>
            </a:br>
            <a:r>
              <a:rPr lang="en-IN" sz="700" b="1" dirty="0"/>
              <a:t>"The portal is only in English. I had to pay someone ₹500 to fill the form."</a:t>
            </a:r>
            <a:r>
              <a:rPr lang="en-IN" sz="700" dirty="0"/>
              <a:t> → </a:t>
            </a:r>
            <a:r>
              <a:rPr lang="en-IN" sz="700" i="1" dirty="0"/>
              <a:t>Pain:</a:t>
            </a:r>
            <a:r>
              <a:rPr lang="en-IN" sz="700" dirty="0"/>
              <a:t> Language barrier &amp; digital literacy gap</a:t>
            </a:r>
          </a:p>
        </p:txBody>
      </p:sp>
      <p:sp>
        <p:nvSpPr>
          <p:cNvPr id="209" name="Google Shape;209;p5"/>
          <p:cNvSpPr/>
          <p:nvPr/>
        </p:nvSpPr>
        <p:spPr>
          <a:xfrm>
            <a:off x="6217920" y="2926080"/>
            <a:ext cx="5257800" cy="164592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400800" y="307238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User pain ranking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6400800" y="3401568"/>
            <a:ext cx="489204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800" dirty="0"/>
              <a:t>❌ </a:t>
            </a:r>
            <a:r>
              <a:rPr lang="en-IN" sz="800" b="1" dirty="0"/>
              <a:t>Market blindness</a:t>
            </a:r>
            <a:r>
              <a:rPr lang="en-IN" sz="800" dirty="0"/>
              <a:t> (starting businesses without demand validation)</a:t>
            </a:r>
          </a:p>
          <a:p>
            <a:pPr lvl="0"/>
            <a:r>
              <a:rPr lang="en-IN" sz="800" dirty="0"/>
              <a:t>❌ </a:t>
            </a:r>
            <a:r>
              <a:rPr lang="en-IN" sz="800" b="1" dirty="0"/>
              <a:t>Financial confusion</a:t>
            </a:r>
            <a:r>
              <a:rPr lang="en-IN" sz="800" dirty="0"/>
              <a:t> (loan amount ≠ affordable EMI)</a:t>
            </a:r>
          </a:p>
          <a:p>
            <a:pPr lvl="0"/>
            <a:r>
              <a:rPr lang="en-IN" sz="800" dirty="0"/>
              <a:t>❌ </a:t>
            </a:r>
            <a:r>
              <a:rPr lang="en-IN" sz="800" b="1" dirty="0"/>
              <a:t>Portal fragmentation</a:t>
            </a:r>
            <a:r>
              <a:rPr lang="en-IN" sz="800" dirty="0"/>
              <a:t> (4-5 different systems to navigate)</a:t>
            </a:r>
          </a:p>
        </p:txBody>
      </p:sp>
      <p:sp>
        <p:nvSpPr>
          <p:cNvPr id="212" name="Google Shape;212;p5"/>
          <p:cNvSpPr txBox="1"/>
          <p:nvPr/>
        </p:nvSpPr>
        <p:spPr>
          <a:xfrm>
            <a:off x="713232" y="5349240"/>
            <a:ext cx="10789920" cy="24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Existing Solutions, Alternatives &amp; Gaps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Compare before claiming innovation. Every problem already has some workaround.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EVIDENCE MATRIX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731520" y="126187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Fill at least 5 references: products, apps, papers, processes, government systems, manual workarounds or competitor solutions.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685800" y="1664208"/>
            <a:ext cx="1463040" cy="475488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731520" y="179222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148840" y="1664208"/>
            <a:ext cx="2057400" cy="475488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2194560" y="1792224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206240" y="1664208"/>
            <a:ext cx="2057400" cy="475488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4251959" y="1792224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6263640" y="1664208"/>
            <a:ext cx="2057400" cy="475488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6309359" y="1792224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8321040" y="1664208"/>
            <a:ext cx="1783080" cy="475488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366760" y="1792224"/>
            <a:ext cx="1691639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link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10104120" y="1664208"/>
            <a:ext cx="1371600" cy="475488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10149840" y="179222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685800" y="2157984"/>
            <a:ext cx="14630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40664" y="2313432"/>
            <a:ext cx="135331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b="1" dirty="0" err="1"/>
              <a:t>JanSamarth</a:t>
            </a:r>
            <a:endParaRPr dirty="0"/>
          </a:p>
        </p:txBody>
      </p:sp>
      <p:sp>
        <p:nvSpPr>
          <p:cNvPr id="241" name="Google Shape;241;p6"/>
          <p:cNvSpPr/>
          <p:nvPr/>
        </p:nvSpPr>
        <p:spPr>
          <a:xfrm>
            <a:off x="2148840" y="2157984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2203704" y="2313432"/>
            <a:ext cx="194767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7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700" dirty="0"/>
              <a:t>Credit-linked government scheme discovery &amp; application portal</a:t>
            </a:r>
            <a:r>
              <a:rPr lang="en-US" sz="7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700" dirty="0"/>
          </a:p>
        </p:txBody>
      </p:sp>
      <p:sp>
        <p:nvSpPr>
          <p:cNvPr id="243" name="Google Shape;243;p6"/>
          <p:cNvSpPr/>
          <p:nvPr/>
        </p:nvSpPr>
        <p:spPr>
          <a:xfrm>
            <a:off x="4206240" y="2157984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4261103" y="2313432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800" dirty="0"/>
              <a:t>Govt-backed, integrates multiple schemes</a:t>
            </a:r>
            <a:endParaRPr sz="800" dirty="0"/>
          </a:p>
        </p:txBody>
      </p:sp>
      <p:sp>
        <p:nvSpPr>
          <p:cNvPr id="245" name="Google Shape;245;p6"/>
          <p:cNvSpPr/>
          <p:nvPr/>
        </p:nvSpPr>
        <p:spPr>
          <a:xfrm>
            <a:off x="6263640" y="2157984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6318503" y="2313432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800" dirty="0"/>
              <a:t>Only focuses on credit access; doesn't validate if business is viable locally</a:t>
            </a:r>
            <a:endParaRPr sz="800" dirty="0"/>
          </a:p>
        </p:txBody>
      </p:sp>
      <p:sp>
        <p:nvSpPr>
          <p:cNvPr id="247" name="Google Shape;247;p6"/>
          <p:cNvSpPr/>
          <p:nvPr/>
        </p:nvSpPr>
        <p:spPr>
          <a:xfrm>
            <a:off x="8321040" y="2157984"/>
            <a:ext cx="178308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8375904" y="2313432"/>
            <a:ext cx="1673352" cy="166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840" dirty="0">
                <a:solidFill>
                  <a:srgbClr val="667485"/>
                </a:solidFill>
              </a:rPr>
              <a:t>https://www.jansamarth.in/home</a:t>
            </a:r>
            <a:endParaRPr dirty="0"/>
          </a:p>
        </p:txBody>
      </p:sp>
      <p:sp>
        <p:nvSpPr>
          <p:cNvPr id="249" name="Google Shape;249;p6"/>
          <p:cNvSpPr/>
          <p:nvPr/>
        </p:nvSpPr>
        <p:spPr>
          <a:xfrm>
            <a:off x="10104120" y="2157984"/>
            <a:ext cx="13716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10158984" y="2313432"/>
            <a:ext cx="1261872" cy="36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700" dirty="0"/>
              <a:t>No hyper-local market feasibility analysis before loan application</a:t>
            </a:r>
            <a:endParaRPr sz="700" dirty="0"/>
          </a:p>
        </p:txBody>
      </p:sp>
      <p:sp>
        <p:nvSpPr>
          <p:cNvPr id="251" name="Google Shape;251;p6"/>
          <p:cNvSpPr/>
          <p:nvPr/>
        </p:nvSpPr>
        <p:spPr>
          <a:xfrm>
            <a:off x="685800" y="2724912"/>
            <a:ext cx="14630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740664" y="2880360"/>
            <a:ext cx="135331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b="1" dirty="0"/>
              <a:t>PM-SURAJ</a:t>
            </a:r>
            <a:endParaRPr dirty="0"/>
          </a:p>
        </p:txBody>
      </p:sp>
      <p:sp>
        <p:nvSpPr>
          <p:cNvPr id="253" name="Google Shape;253;p6"/>
          <p:cNvSpPr/>
          <p:nvPr/>
        </p:nvSpPr>
        <p:spPr>
          <a:xfrm>
            <a:off x="2148840" y="2724912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2203704" y="2880360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800" dirty="0"/>
              <a:t>Concessional credit portal for SC/ST/minority entrepreneurs (</a:t>
            </a:r>
            <a:r>
              <a:rPr lang="en-IN" sz="800" dirty="0" err="1"/>
              <a:t>MoSJE</a:t>
            </a:r>
            <a:r>
              <a:rPr lang="en-IN" sz="800" dirty="0"/>
              <a:t>)</a:t>
            </a:r>
            <a:endParaRPr sz="800" dirty="0"/>
          </a:p>
        </p:txBody>
      </p:sp>
      <p:sp>
        <p:nvSpPr>
          <p:cNvPr id="255" name="Google Shape;255;p6"/>
          <p:cNvSpPr/>
          <p:nvPr/>
        </p:nvSpPr>
        <p:spPr>
          <a:xfrm>
            <a:off x="4206240" y="2724912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4261103" y="2880360"/>
            <a:ext cx="194767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700" dirty="0"/>
              <a:t>Targeted at marginalized communities; 90% financing at 6.5-8% interest</a:t>
            </a:r>
            <a:endParaRPr sz="700" dirty="0"/>
          </a:p>
        </p:txBody>
      </p:sp>
      <p:sp>
        <p:nvSpPr>
          <p:cNvPr id="257" name="Google Shape;257;p6"/>
          <p:cNvSpPr/>
          <p:nvPr/>
        </p:nvSpPr>
        <p:spPr>
          <a:xfrm>
            <a:off x="6263640" y="2724912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6318503" y="2880360"/>
            <a:ext cx="194767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700" dirty="0"/>
              <a:t>Credit-focused only; doesn't help choose the right business or assess market demand</a:t>
            </a:r>
            <a:r>
              <a:rPr lang="en-US" sz="7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700" dirty="0"/>
          </a:p>
        </p:txBody>
      </p:sp>
      <p:sp>
        <p:nvSpPr>
          <p:cNvPr id="259" name="Google Shape;259;p6"/>
          <p:cNvSpPr/>
          <p:nvPr/>
        </p:nvSpPr>
        <p:spPr>
          <a:xfrm>
            <a:off x="8321040" y="2724912"/>
            <a:ext cx="178308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8375904" y="2880360"/>
            <a:ext cx="1673352" cy="46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84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dirty="0">
                <a:hlinkClick r:id="rId3"/>
              </a:rPr>
              <a:t>pmsuraj.dosje.gov.in</a:t>
            </a:r>
            <a:r>
              <a:rPr lang="en-US" sz="84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dirty="0"/>
          </a:p>
        </p:txBody>
      </p:sp>
      <p:sp>
        <p:nvSpPr>
          <p:cNvPr id="261" name="Google Shape;261;p6"/>
          <p:cNvSpPr/>
          <p:nvPr/>
        </p:nvSpPr>
        <p:spPr>
          <a:xfrm>
            <a:off x="10104120" y="2724912"/>
            <a:ext cx="13716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10158984" y="2880360"/>
            <a:ext cx="1261872" cy="31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4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900" dirty="0"/>
              <a:t>No pre-investment decision support</a:t>
            </a:r>
            <a:r>
              <a:rPr lang="en-US" sz="4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dirty="0"/>
          </a:p>
        </p:txBody>
      </p:sp>
      <p:sp>
        <p:nvSpPr>
          <p:cNvPr id="263" name="Google Shape;263;p6"/>
          <p:cNvSpPr/>
          <p:nvPr/>
        </p:nvSpPr>
        <p:spPr>
          <a:xfrm>
            <a:off x="685800" y="3291839"/>
            <a:ext cx="14630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740664" y="3447287"/>
            <a:ext cx="135331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b="1" dirty="0"/>
              <a:t>SVEP</a:t>
            </a:r>
            <a:endParaRPr dirty="0"/>
          </a:p>
        </p:txBody>
      </p:sp>
      <p:sp>
        <p:nvSpPr>
          <p:cNvPr id="265" name="Google Shape;265;p6"/>
          <p:cNvSpPr/>
          <p:nvPr/>
        </p:nvSpPr>
        <p:spPr>
          <a:xfrm>
            <a:off x="2148840" y="3291839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2203704" y="3447287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800" dirty="0"/>
              <a:t>Rural enterprise support program with mentoring, finance &amp; training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800" dirty="0"/>
          </a:p>
        </p:txBody>
      </p:sp>
      <p:sp>
        <p:nvSpPr>
          <p:cNvPr id="267" name="Google Shape;267;p6"/>
          <p:cNvSpPr/>
          <p:nvPr/>
        </p:nvSpPr>
        <p:spPr>
          <a:xfrm>
            <a:off x="4206240" y="3291839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4261103" y="3447287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800" dirty="0"/>
              <a:t>Strong human support via Community Resource Persons; holistic approach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800" dirty="0"/>
          </a:p>
        </p:txBody>
      </p:sp>
      <p:sp>
        <p:nvSpPr>
          <p:cNvPr id="269" name="Google Shape;269;p6"/>
          <p:cNvSpPr/>
          <p:nvPr/>
        </p:nvSpPr>
        <p:spPr>
          <a:xfrm>
            <a:off x="6263640" y="3291839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6318503" y="3447287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800" dirty="0"/>
              <a:t>Programme-based implementation; not a scalable digital AI tool; varies by location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800" dirty="0"/>
          </a:p>
        </p:txBody>
      </p:sp>
      <p:sp>
        <p:nvSpPr>
          <p:cNvPr id="271" name="Google Shape;271;p6"/>
          <p:cNvSpPr/>
          <p:nvPr/>
        </p:nvSpPr>
        <p:spPr>
          <a:xfrm>
            <a:off x="8321040" y="3291839"/>
            <a:ext cx="178308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8375904" y="3447287"/>
            <a:ext cx="1673352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6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1050" dirty="0">
                <a:hlinkClick r:id="rId4"/>
              </a:rPr>
              <a:t>svep.nrlm.gov.in</a:t>
            </a:r>
            <a:r>
              <a:rPr lang="en-US" sz="6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1050" dirty="0"/>
          </a:p>
        </p:txBody>
      </p:sp>
      <p:sp>
        <p:nvSpPr>
          <p:cNvPr id="273" name="Google Shape;273;p6"/>
          <p:cNvSpPr/>
          <p:nvPr/>
        </p:nvSpPr>
        <p:spPr>
          <a:xfrm>
            <a:off x="10104120" y="3291839"/>
            <a:ext cx="13716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10158984" y="3447287"/>
            <a:ext cx="12618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800" dirty="0"/>
              <a:t>Lacks instant, data-driven feasibility engine;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 sz="800" dirty="0"/>
          </a:p>
        </p:txBody>
      </p:sp>
      <p:sp>
        <p:nvSpPr>
          <p:cNvPr id="275" name="Google Shape;275;p6"/>
          <p:cNvSpPr/>
          <p:nvPr/>
        </p:nvSpPr>
        <p:spPr>
          <a:xfrm>
            <a:off x="685800" y="3858768"/>
            <a:ext cx="14630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740664" y="4014215"/>
            <a:ext cx="1353312" cy="19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5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1000" b="1" dirty="0"/>
              <a:t>AGMARKNET/</a:t>
            </a:r>
            <a:r>
              <a:rPr lang="en-IN" sz="1000" b="1" dirty="0" err="1"/>
              <a:t>eNAM</a:t>
            </a:r>
            <a:r>
              <a:rPr lang="en-US" sz="5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1000" dirty="0"/>
          </a:p>
        </p:txBody>
      </p:sp>
      <p:sp>
        <p:nvSpPr>
          <p:cNvPr id="277" name="Google Shape;277;p6"/>
          <p:cNvSpPr/>
          <p:nvPr/>
        </p:nvSpPr>
        <p:spPr>
          <a:xfrm>
            <a:off x="2148840" y="3858768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2203704" y="4014215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800" dirty="0"/>
              <a:t>Agricultural commodity prices &amp; mandi information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800" dirty="0"/>
          </a:p>
        </p:txBody>
      </p:sp>
      <p:sp>
        <p:nvSpPr>
          <p:cNvPr id="279" name="Google Shape;279;p6"/>
          <p:cNvSpPr/>
          <p:nvPr/>
        </p:nvSpPr>
        <p:spPr>
          <a:xfrm>
            <a:off x="4206240" y="3858768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4261103" y="4014215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800" dirty="0"/>
              <a:t>Real-time market prices across 1000+ APMC markets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800" dirty="0"/>
          </a:p>
        </p:txBody>
      </p:sp>
      <p:sp>
        <p:nvSpPr>
          <p:cNvPr id="281" name="Google Shape;281;p6"/>
          <p:cNvSpPr/>
          <p:nvPr/>
        </p:nvSpPr>
        <p:spPr>
          <a:xfrm>
            <a:off x="6263640" y="3858768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6318503" y="4014215"/>
            <a:ext cx="1947672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800" dirty="0"/>
              <a:t>Only for agricultural commodities; user must interpret data manually</a:t>
            </a:r>
            <a:r>
              <a:rPr lang="en-US" sz="3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800" dirty="0"/>
          </a:p>
        </p:txBody>
      </p:sp>
      <p:sp>
        <p:nvSpPr>
          <p:cNvPr id="283" name="Google Shape;283;p6"/>
          <p:cNvSpPr/>
          <p:nvPr/>
        </p:nvSpPr>
        <p:spPr>
          <a:xfrm>
            <a:off x="8321040" y="3858768"/>
            <a:ext cx="178308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8375904" y="4014215"/>
            <a:ext cx="1673352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7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1100" dirty="0">
                <a:hlinkClick r:id="rId5"/>
              </a:rPr>
              <a:t>enam.gov.in</a:t>
            </a:r>
            <a:endParaRPr sz="1100" dirty="0"/>
          </a:p>
        </p:txBody>
      </p:sp>
      <p:sp>
        <p:nvSpPr>
          <p:cNvPr id="285" name="Google Shape;285;p6"/>
          <p:cNvSpPr/>
          <p:nvPr/>
        </p:nvSpPr>
        <p:spPr>
          <a:xfrm>
            <a:off x="10104120" y="3858768"/>
            <a:ext cx="13716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10158984" y="4014215"/>
            <a:ext cx="1261872" cy="295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Not completely automated</a:t>
            </a:r>
            <a:endParaRPr dirty="0"/>
          </a:p>
        </p:txBody>
      </p:sp>
      <p:sp>
        <p:nvSpPr>
          <p:cNvPr id="287" name="Google Shape;287;p6"/>
          <p:cNvSpPr/>
          <p:nvPr/>
        </p:nvSpPr>
        <p:spPr>
          <a:xfrm>
            <a:off x="685800" y="4425696"/>
            <a:ext cx="146304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740664" y="4581144"/>
            <a:ext cx="1353312" cy="19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050" b="1" dirty="0" err="1"/>
              <a:t>Khatabook</a:t>
            </a:r>
            <a:r>
              <a:rPr lang="en-IN" sz="1050" b="1" dirty="0"/>
              <a:t>/</a:t>
            </a:r>
            <a:r>
              <a:rPr lang="en-IN" sz="1050" b="1" dirty="0" err="1"/>
              <a:t>OkCredit</a:t>
            </a:r>
            <a:endParaRPr dirty="0"/>
          </a:p>
        </p:txBody>
      </p:sp>
      <p:sp>
        <p:nvSpPr>
          <p:cNvPr id="289" name="Google Shape;289;p6"/>
          <p:cNvSpPr/>
          <p:nvPr/>
        </p:nvSpPr>
        <p:spPr>
          <a:xfrm>
            <a:off x="2148840" y="4425696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2203704" y="4581144"/>
            <a:ext cx="1947672" cy="344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000" dirty="0"/>
              <a:t>Digital ledger for small business transactions</a:t>
            </a:r>
            <a:endParaRPr sz="1000" dirty="0"/>
          </a:p>
        </p:txBody>
      </p:sp>
      <p:sp>
        <p:nvSpPr>
          <p:cNvPr id="291" name="Google Shape;291;p6"/>
          <p:cNvSpPr/>
          <p:nvPr/>
        </p:nvSpPr>
        <p:spPr>
          <a:xfrm>
            <a:off x="4206240" y="4425696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261103" y="4581144"/>
            <a:ext cx="1947672" cy="31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900" dirty="0"/>
              <a:t>Excellent for tracking receivables/payables post-launch</a:t>
            </a:r>
            <a:endParaRPr sz="900" dirty="0"/>
          </a:p>
        </p:txBody>
      </p:sp>
      <p:sp>
        <p:nvSpPr>
          <p:cNvPr id="293" name="Google Shape;293;p6"/>
          <p:cNvSpPr/>
          <p:nvPr/>
        </p:nvSpPr>
        <p:spPr>
          <a:xfrm>
            <a:off x="6263640" y="4425696"/>
            <a:ext cx="20574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6318503" y="4581144"/>
            <a:ext cx="1947672" cy="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700" dirty="0"/>
              <a:t>Only useful AFTER business starts; doesn't help with pre-business planning</a:t>
            </a:r>
            <a:endParaRPr sz="700" dirty="0"/>
          </a:p>
        </p:txBody>
      </p:sp>
      <p:sp>
        <p:nvSpPr>
          <p:cNvPr id="295" name="Google Shape;295;p6"/>
          <p:cNvSpPr/>
          <p:nvPr/>
        </p:nvSpPr>
        <p:spPr>
          <a:xfrm>
            <a:off x="8321040" y="4425696"/>
            <a:ext cx="178308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8375904" y="4581144"/>
            <a:ext cx="1673352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US" sz="7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IN" sz="1100" dirty="0">
                <a:hlinkClick r:id="rId6"/>
              </a:rPr>
              <a:t>khatabook.com</a:t>
            </a:r>
            <a:r>
              <a:rPr lang="en-US" sz="70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100" dirty="0"/>
          </a:p>
        </p:txBody>
      </p:sp>
      <p:sp>
        <p:nvSpPr>
          <p:cNvPr id="297" name="Google Shape;297;p6"/>
          <p:cNvSpPr/>
          <p:nvPr/>
        </p:nvSpPr>
        <p:spPr>
          <a:xfrm>
            <a:off x="10104120" y="4425696"/>
            <a:ext cx="13716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0158984" y="4581144"/>
            <a:ext cx="1261872" cy="31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600" dirty="0"/>
              <a:t>No feasibility assessment or scheme matching before investment</a:t>
            </a:r>
            <a:endParaRPr sz="600" dirty="0"/>
          </a:p>
        </p:txBody>
      </p:sp>
      <p:sp>
        <p:nvSpPr>
          <p:cNvPr id="299" name="Google Shape;299;p6"/>
          <p:cNvSpPr/>
          <p:nvPr/>
        </p:nvSpPr>
        <p:spPr>
          <a:xfrm>
            <a:off x="685800" y="5230368"/>
            <a:ext cx="10789920" cy="1069848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896112" y="539496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Gap statement:</a:t>
            </a:r>
            <a:endParaRPr/>
          </a:p>
        </p:txBody>
      </p:sp>
      <p:sp>
        <p:nvSpPr>
          <p:cNvPr id="301" name="Google Shape;301;p6"/>
          <p:cNvSpPr txBox="1"/>
          <p:nvPr/>
        </p:nvSpPr>
        <p:spPr>
          <a:xfrm>
            <a:off x="2084831" y="5330952"/>
            <a:ext cx="9052560" cy="77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US" sz="1200" b="1" i="0" u="none" strike="noStrike" cap="none" dirty="0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GB" sz="1200" b="1" dirty="0">
                <a:solidFill>
                  <a:srgbClr val="0C1C34"/>
                </a:solidFill>
              </a:rPr>
              <a:t>Existing solutions do provide credit access, registration, and market prices separately, but fail when a first-time entrepreneur needs to combine local market feasibility with financial structuring BEFORE borrowing. Therefore, our opportunity is to build an integrated decision-support layer that validates business viability and calculates exact financing needs before the entrepreneur applies for a loan. </a:t>
            </a:r>
            <a:r>
              <a:rPr lang="en-US" sz="1200" b="1" i="0" u="none" strike="noStrike" cap="none" dirty="0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Root Cause Analysis</a:t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Move from visible symptoms to the actual cause you want to solve.</a:t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DEFINE QUALITY</a:t>
            </a:r>
            <a:endParaRPr/>
          </a:p>
        </p:txBody>
      </p:sp>
      <p:sp>
        <p:nvSpPr>
          <p:cNvPr id="313" name="Google Shape;313;p7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314" name="Google Shape;314;p7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685800" y="1417320"/>
            <a:ext cx="2743200" cy="10058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868680" y="15636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Visible symptom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868680" y="1847698"/>
            <a:ext cx="2377440" cy="5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900" dirty="0"/>
              <a:t>Rural micro-entrepreneurs start businesses that fail within 3 years (68% failure rate) despite access to concessional credit schemes.</a:t>
            </a:r>
            <a:endParaRPr sz="900" dirty="0"/>
          </a:p>
        </p:txBody>
      </p:sp>
      <p:sp>
        <p:nvSpPr>
          <p:cNvPr id="318" name="Google Shape;318;p7"/>
          <p:cNvSpPr/>
          <p:nvPr/>
        </p:nvSpPr>
        <p:spPr>
          <a:xfrm>
            <a:off x="3703320" y="1417320"/>
            <a:ext cx="1737360" cy="10058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3886200" y="15636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Why 1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3751072" y="1892808"/>
            <a:ext cx="178816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800" dirty="0"/>
              <a:t>Entrepreneurs choose unsuitable business ideas and underestimate repayment burden.</a:t>
            </a:r>
            <a:endParaRPr sz="800" dirty="0"/>
          </a:p>
        </p:txBody>
      </p:sp>
      <p:sp>
        <p:nvSpPr>
          <p:cNvPr id="321" name="Google Shape;321;p7"/>
          <p:cNvSpPr/>
          <p:nvPr/>
        </p:nvSpPr>
        <p:spPr>
          <a:xfrm>
            <a:off x="5623560" y="1417320"/>
            <a:ext cx="1737360" cy="10058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5806440" y="15636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Why 2</a:t>
            </a:r>
            <a:endParaRPr/>
          </a:p>
        </p:txBody>
      </p:sp>
      <p:sp>
        <p:nvSpPr>
          <p:cNvPr id="323" name="Google Shape;323;p7"/>
          <p:cNvSpPr txBox="1"/>
          <p:nvPr/>
        </p:nvSpPr>
        <p:spPr>
          <a:xfrm>
            <a:off x="5707888" y="1892808"/>
            <a:ext cx="1605280" cy="31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600" dirty="0"/>
              <a:t>They lack structured local market analysis (demand, competitors, pricing) and financial clarity (EMI vs. cash flow).</a:t>
            </a:r>
            <a:endParaRPr sz="600" dirty="0"/>
          </a:p>
        </p:txBody>
      </p:sp>
      <p:sp>
        <p:nvSpPr>
          <p:cNvPr id="324" name="Google Shape;324;p7"/>
          <p:cNvSpPr/>
          <p:nvPr/>
        </p:nvSpPr>
        <p:spPr>
          <a:xfrm>
            <a:off x="7543800" y="1417320"/>
            <a:ext cx="1737360" cy="10058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 txBox="1"/>
          <p:nvPr/>
        </p:nvSpPr>
        <p:spPr>
          <a:xfrm>
            <a:off x="7726679" y="15636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Why 3</a:t>
            </a:r>
            <a:endParaRPr/>
          </a:p>
        </p:txBody>
      </p:sp>
      <p:sp>
        <p:nvSpPr>
          <p:cNvPr id="326" name="Google Shape;326;p7"/>
          <p:cNvSpPr txBox="1"/>
          <p:nvPr/>
        </p:nvSpPr>
        <p:spPr>
          <a:xfrm>
            <a:off x="7652512" y="1892808"/>
            <a:ext cx="1445767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600" dirty="0"/>
              <a:t>Critical information exists across disconnected government silos (credit portals, registration systems, market data) that require manual interpretation.</a:t>
            </a:r>
            <a:endParaRPr sz="600" dirty="0"/>
          </a:p>
        </p:txBody>
      </p:sp>
      <p:sp>
        <p:nvSpPr>
          <p:cNvPr id="327" name="Google Shape;327;p7"/>
          <p:cNvSpPr/>
          <p:nvPr/>
        </p:nvSpPr>
        <p:spPr>
          <a:xfrm>
            <a:off x="9464040" y="1417320"/>
            <a:ext cx="2443480" cy="10058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9646919" y="156362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Root cause</a:t>
            </a:r>
            <a:endParaRPr/>
          </a:p>
        </p:txBody>
      </p:sp>
      <p:sp>
        <p:nvSpPr>
          <p:cNvPr id="329" name="Google Shape;329;p7"/>
          <p:cNvSpPr txBox="1"/>
          <p:nvPr/>
        </p:nvSpPr>
        <p:spPr>
          <a:xfrm>
            <a:off x="9592056" y="1770700"/>
            <a:ext cx="2304287" cy="65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800" b="1" dirty="0"/>
              <a:t>Absence of an integrated, hyper-local decision-support layer that translates fragmented data into actionable business feasibility and financial structuring BEFORE the entrepreneur invests or borrows.</a:t>
            </a:r>
            <a:endParaRPr sz="800" dirty="0"/>
          </a:p>
        </p:txBody>
      </p:sp>
      <p:cxnSp>
        <p:nvCxnSpPr>
          <p:cNvPr id="330" name="Google Shape;330;p7"/>
          <p:cNvCxnSpPr/>
          <p:nvPr/>
        </p:nvCxnSpPr>
        <p:spPr>
          <a:xfrm>
            <a:off x="3429000" y="19202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31" name="Google Shape;331;p7"/>
          <p:cNvCxnSpPr/>
          <p:nvPr/>
        </p:nvCxnSpPr>
        <p:spPr>
          <a:xfrm>
            <a:off x="5440680" y="19202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32" name="Google Shape;332;p7"/>
          <p:cNvCxnSpPr/>
          <p:nvPr/>
        </p:nvCxnSpPr>
        <p:spPr>
          <a:xfrm>
            <a:off x="7360920" y="19202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p7"/>
          <p:cNvCxnSpPr/>
          <p:nvPr/>
        </p:nvCxnSpPr>
        <p:spPr>
          <a:xfrm>
            <a:off x="9281160" y="19202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34" name="Google Shape;334;p7"/>
          <p:cNvSpPr/>
          <p:nvPr/>
        </p:nvSpPr>
        <p:spPr>
          <a:xfrm>
            <a:off x="685800" y="2788919"/>
            <a:ext cx="5486400" cy="2868167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 txBox="1"/>
          <p:nvPr/>
        </p:nvSpPr>
        <p:spPr>
          <a:xfrm>
            <a:off x="868680" y="293522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Cause-effect map / fishbone / 5 Whys evidence</a:t>
            </a:r>
            <a:endParaRPr/>
          </a:p>
        </p:txBody>
      </p:sp>
      <p:sp>
        <p:nvSpPr>
          <p:cNvPr id="336" name="Google Shape;336;p7"/>
          <p:cNvSpPr txBox="1"/>
          <p:nvPr/>
        </p:nvSpPr>
        <p:spPr>
          <a:xfrm>
            <a:off x="868680" y="3264408"/>
            <a:ext cx="5120640" cy="225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200" b="1" dirty="0"/>
              <a:t>Fragmented Information Ecosystem</a:t>
            </a:r>
          </a:p>
          <a:p>
            <a:r>
              <a:rPr lang="en-IN" sz="1200" dirty="0"/>
              <a:t>Market data (AGMARKNET) → Agricultural only, manual interpretation</a:t>
            </a:r>
          </a:p>
          <a:p>
            <a:r>
              <a:rPr lang="en-IN" sz="1200" dirty="0" err="1"/>
              <a:t>redit</a:t>
            </a:r>
            <a:r>
              <a:rPr lang="en-IN" sz="1200" dirty="0"/>
              <a:t> schemes (</a:t>
            </a:r>
            <a:r>
              <a:rPr lang="en-IN" sz="1200" dirty="0" err="1"/>
              <a:t>JanSamarth</a:t>
            </a:r>
            <a:r>
              <a:rPr lang="en-IN" sz="1200" dirty="0"/>
              <a:t>/PM-SURAJ) → No local viability check</a:t>
            </a:r>
          </a:p>
          <a:p>
            <a:r>
              <a:rPr lang="en-IN" sz="1200" dirty="0"/>
              <a:t>Registration (Udyam) → Doesn't capture informal competition</a:t>
            </a:r>
          </a:p>
          <a:p>
            <a:r>
              <a:rPr lang="en-IN" sz="1200" dirty="0"/>
              <a:t>Mentoring (SVEP) → Human-dependent, not scalable digital tool</a:t>
            </a:r>
          </a:p>
          <a:p>
            <a:r>
              <a:rPr lang="en-IN" sz="1200" b="1" dirty="0"/>
              <a:t>Financial Literacy Gap</a:t>
            </a:r>
          </a:p>
          <a:p>
            <a:r>
              <a:rPr lang="en-IN" sz="1200" dirty="0"/>
              <a:t>99.1% unincorporated businesses lack audited books (ASUSE 2023-24)</a:t>
            </a:r>
          </a:p>
          <a:p>
            <a:r>
              <a:rPr lang="en-IN" sz="1200" dirty="0"/>
              <a:t>51.3% rural financial literacy (NABARD NAFIS)</a:t>
            </a:r>
          </a:p>
          <a:p>
            <a:r>
              <a:rPr lang="en-IN" sz="1200" dirty="0"/>
              <a:t>Confusion: Loan amount ≠ Affordable EMI</a:t>
            </a:r>
          </a:p>
          <a:p>
            <a:r>
              <a:rPr lang="en-IN" sz="1200" b="1" dirty="0"/>
              <a:t>Data Availability Issues</a:t>
            </a:r>
          </a:p>
          <a:p>
            <a:r>
              <a:rPr lang="en-IN" sz="1200" dirty="0" err="1"/>
              <a:t>ensus</a:t>
            </a:r>
            <a:r>
              <a:rPr lang="en-IN" sz="1200" dirty="0"/>
              <a:t> 2011 (outdated village data)</a:t>
            </a:r>
          </a:p>
          <a:p>
            <a:r>
              <a:rPr lang="en-IN" sz="1200" dirty="0"/>
              <a:t>No real-time village-level demand signals</a:t>
            </a:r>
            <a:endParaRPr lang="en-IN" sz="1050" dirty="0"/>
          </a:p>
        </p:txBody>
      </p:sp>
      <p:sp>
        <p:nvSpPr>
          <p:cNvPr id="337" name="Google Shape;337;p7"/>
          <p:cNvSpPr/>
          <p:nvPr/>
        </p:nvSpPr>
        <p:spPr>
          <a:xfrm>
            <a:off x="6446520" y="2788919"/>
            <a:ext cx="5029200" cy="2868163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6629400" y="293522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Problem boundary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629400" y="3264408"/>
            <a:ext cx="4663440" cy="188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200" b="1" dirty="0"/>
              <a:t>What We ARE Solving:</a:t>
            </a:r>
            <a:r>
              <a:rPr lang="en-IN" sz="1200" dirty="0"/>
              <a:t> ✅ Pre-investment business feasibility assessment ✅ Hyper-local market intelligence (competitors, demand, pricing) ✅ Deterministic financial structuring (EMI, loan amount, scheme routing) ✅ Actionable insights in regional language</a:t>
            </a:r>
          </a:p>
          <a:p>
            <a:r>
              <a:rPr lang="en-IN" sz="1200" b="1" dirty="0"/>
              <a:t>What We are NOT Solving:</a:t>
            </a:r>
            <a:r>
              <a:rPr lang="en-IN" sz="1200" dirty="0"/>
              <a:t> ❌ Loan approval or credit scoring (remains with banks/SCAs) ❌ Guaranteeing business success (we provide decision-support, not certainty) ❌ Replacing human facilitators (we augment CSC/SHG workers) ❌ Real-time market prices (we use proxy indicators)</a:t>
            </a:r>
          </a:p>
        </p:txBody>
      </p:sp>
      <p:sp>
        <p:nvSpPr>
          <p:cNvPr id="340" name="Google Shape;340;p7"/>
          <p:cNvSpPr txBox="1"/>
          <p:nvPr/>
        </p:nvSpPr>
        <p:spPr>
          <a:xfrm>
            <a:off x="713232" y="574243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The strongest teams will narrow the problem based on evidence, not convenience.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DEFINE: Final Problem Frame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1143000" y="868680"/>
            <a:ext cx="9692640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This is the key output of the first diamond. Make it sharp, specific and measurable.</a:t>
            </a:r>
            <a:endParaRPr sz="1200"/>
          </a:p>
        </p:txBody>
      </p:sp>
      <p:sp>
        <p:nvSpPr>
          <p:cNvPr id="350" name="Google Shape;350;p8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FIRST DIAMOND OUTPUT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353" name="Google Shape;353;p8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713232" y="1280160"/>
            <a:ext cx="10789920" cy="1435608"/>
          </a:xfrm>
          <a:prstGeom prst="roundRect">
            <a:avLst>
              <a:gd name="adj" fmla="val 16667"/>
            </a:avLst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960120" y="13441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AECDEA"/>
                </a:solidFill>
                <a:latin typeface="Arial"/>
                <a:ea typeface="Arial"/>
                <a:cs typeface="Arial"/>
                <a:sym typeface="Arial"/>
              </a:rPr>
              <a:t>Reframed Problem Statement</a:t>
            </a:r>
            <a:endParaRPr dirty="0"/>
          </a:p>
        </p:txBody>
      </p:sp>
      <p:sp>
        <p:nvSpPr>
          <p:cNvPr id="356" name="Google Shape;356;p8"/>
          <p:cNvSpPr txBox="1"/>
          <p:nvPr/>
        </p:nvSpPr>
        <p:spPr>
          <a:xfrm>
            <a:off x="960120" y="1635491"/>
            <a:ext cx="9966960" cy="89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[First-time rural micro-entrepreneurs]</a:t>
            </a:r>
            <a:r>
              <a:rPr lang="en-IN" dirty="0">
                <a:solidFill>
                  <a:schemeClr val="bg1"/>
                </a:solidFill>
              </a:rPr>
              <a:t> need a way to </a:t>
            </a:r>
            <a:r>
              <a:rPr lang="en-IN" b="1" dirty="0">
                <a:solidFill>
                  <a:schemeClr val="bg1"/>
                </a:solidFill>
              </a:rPr>
              <a:t>[evaluate business feasibility and structure financing before investing or borrowing]</a:t>
            </a:r>
            <a:r>
              <a:rPr lang="en-IN" dirty="0">
                <a:solidFill>
                  <a:schemeClr val="bg1"/>
                </a:solidFill>
              </a:rPr>
              <a:t> because </a:t>
            </a:r>
            <a:r>
              <a:rPr lang="en-IN" b="1" dirty="0">
                <a:solidFill>
                  <a:schemeClr val="bg1"/>
                </a:solidFill>
              </a:rPr>
              <a:t>[critical market, enterprise, and financial data is fragmented across disconnected government systems and difficult to translate into local business decisions]</a:t>
            </a:r>
            <a:r>
              <a:rPr lang="en-IN" dirty="0">
                <a:solidFill>
                  <a:schemeClr val="bg1"/>
                </a:solidFill>
              </a:rPr>
              <a:t>, especially when </a:t>
            </a:r>
            <a:r>
              <a:rPr lang="en-IN" b="1" dirty="0">
                <a:solidFill>
                  <a:schemeClr val="bg1"/>
                </a:solidFill>
              </a:rPr>
              <a:t>[they have limited capital (₹10K-₹5L), low digital literacy, and cannot afford costly mistakes]</a:t>
            </a:r>
            <a:r>
              <a:rPr lang="en-IN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85800" y="2788920"/>
            <a:ext cx="3383280" cy="1316736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868680" y="29352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How Might We question</a:t>
            </a:r>
            <a:endParaRPr/>
          </a:p>
        </p:txBody>
      </p:sp>
      <p:sp>
        <p:nvSpPr>
          <p:cNvPr id="359" name="Google Shape;359;p8"/>
          <p:cNvSpPr txBox="1"/>
          <p:nvPr/>
        </p:nvSpPr>
        <p:spPr>
          <a:xfrm>
            <a:off x="868680" y="3264408"/>
            <a:ext cx="3017520" cy="80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000" b="1" dirty="0"/>
              <a:t>How might we help rural micro-entrepreneurs determine the best business and financing fit for their local market and available capital WITHOUT requiring them to navigate multiple complex government portals and interpret technical data?</a:t>
            </a:r>
            <a:endParaRPr sz="1000" dirty="0"/>
          </a:p>
        </p:txBody>
      </p:sp>
      <p:sp>
        <p:nvSpPr>
          <p:cNvPr id="360" name="Google Shape;360;p8"/>
          <p:cNvSpPr/>
          <p:nvPr/>
        </p:nvSpPr>
        <p:spPr>
          <a:xfrm>
            <a:off x="4389120" y="2827782"/>
            <a:ext cx="3383280" cy="147599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4587087" y="27934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 dirty="0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Success metrics</a:t>
            </a:r>
            <a:endParaRPr dirty="0"/>
          </a:p>
        </p:txBody>
      </p:sp>
      <p:sp>
        <p:nvSpPr>
          <p:cNvPr id="362" name="Google Shape;362;p8"/>
          <p:cNvSpPr txBox="1"/>
          <p:nvPr/>
        </p:nvSpPr>
        <p:spPr>
          <a:xfrm>
            <a:off x="4587087" y="2979542"/>
            <a:ext cx="3017520" cy="111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000" b="1" dirty="0"/>
              <a:t>Even Shorter (if space is tight):</a:t>
            </a:r>
            <a:endParaRPr lang="en-IN" sz="1000" dirty="0"/>
          </a:p>
          <a:p>
            <a:pPr lvl="0"/>
            <a:r>
              <a:rPr lang="en-IN" sz="1000" dirty="0"/>
              <a:t>✅ </a:t>
            </a:r>
            <a:r>
              <a:rPr lang="en-IN" sz="1000" b="1" dirty="0"/>
              <a:t>100%</a:t>
            </a:r>
            <a:r>
              <a:rPr lang="en-IN" sz="1000" dirty="0"/>
              <a:t> financial calculation accuracy (deterministic engine)</a:t>
            </a:r>
          </a:p>
          <a:p>
            <a:pPr lvl="0"/>
            <a:r>
              <a:rPr lang="en-IN" sz="1000" dirty="0"/>
              <a:t>✅ </a:t>
            </a:r>
            <a:r>
              <a:rPr lang="en-IN" sz="1000" b="1" dirty="0"/>
              <a:t>≥80%</a:t>
            </a:r>
            <a:r>
              <a:rPr lang="en-IN" sz="1000" dirty="0"/>
              <a:t> user comprehension of loan terms</a:t>
            </a:r>
          </a:p>
          <a:p>
            <a:pPr lvl="0"/>
            <a:r>
              <a:rPr lang="en-IN" sz="1000" dirty="0"/>
              <a:t>✅ </a:t>
            </a:r>
            <a:r>
              <a:rPr lang="en-IN" sz="1000" b="1" dirty="0"/>
              <a:t>&lt;10 min</a:t>
            </a:r>
            <a:r>
              <a:rPr lang="en-IN" sz="1000" dirty="0"/>
              <a:t> assessment time (vs. 3-5 days manual)</a:t>
            </a:r>
          </a:p>
          <a:p>
            <a:pPr lvl="0"/>
            <a:r>
              <a:rPr lang="en-IN" sz="1000" dirty="0"/>
              <a:t>✅ </a:t>
            </a:r>
            <a:r>
              <a:rPr lang="en-IN" sz="1000" b="1" dirty="0"/>
              <a:t>100%</a:t>
            </a:r>
            <a:r>
              <a:rPr lang="en-IN" sz="1000" dirty="0"/>
              <a:t> transparent AI with source citations</a:t>
            </a:r>
          </a:p>
          <a:p>
            <a:pPr lvl="0"/>
            <a:r>
              <a:rPr lang="en-IN" sz="1000" dirty="0"/>
              <a:t>✅ </a:t>
            </a:r>
            <a:r>
              <a:rPr lang="en-IN" sz="1000" b="1" dirty="0"/>
              <a:t>50+ users</a:t>
            </a:r>
            <a:r>
              <a:rPr lang="en-IN" sz="1000" dirty="0"/>
              <a:t> in MVP pilot (5 villages)</a:t>
            </a:r>
          </a:p>
        </p:txBody>
      </p:sp>
      <p:sp>
        <p:nvSpPr>
          <p:cNvPr id="363" name="Google Shape;363;p8"/>
          <p:cNvSpPr/>
          <p:nvPr/>
        </p:nvSpPr>
        <p:spPr>
          <a:xfrm>
            <a:off x="8122614" y="2859786"/>
            <a:ext cx="3337560" cy="1523388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8321040" y="29352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Design constraints</a:t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8321040" y="3115161"/>
            <a:ext cx="2971800" cy="126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000" b="1" dirty="0"/>
              <a:t>Even Shorter (bullet format):</a:t>
            </a:r>
            <a:endParaRPr lang="en-IN" sz="1000" dirty="0"/>
          </a:p>
          <a:p>
            <a:pPr lvl="0"/>
            <a:r>
              <a:rPr lang="en-IN" sz="1000" dirty="0"/>
              <a:t>Low-bandwidth (2G/3G) support</a:t>
            </a:r>
          </a:p>
          <a:p>
            <a:pPr lvl="0"/>
            <a:r>
              <a:rPr lang="en-IN" sz="1000" dirty="0"/>
              <a:t>Multi-lingual + voice UI</a:t>
            </a:r>
          </a:p>
          <a:p>
            <a:pPr lvl="0"/>
            <a:r>
              <a:rPr lang="en-IN" sz="1000" dirty="0"/>
              <a:t>100% deterministic financial math</a:t>
            </a:r>
          </a:p>
          <a:p>
            <a:pPr lvl="0"/>
            <a:r>
              <a:rPr lang="en-IN" sz="1000" dirty="0"/>
              <a:t>Census 2011 data; clear </a:t>
            </a:r>
            <a:r>
              <a:rPr lang="en-IN" sz="1000" dirty="0" err="1"/>
              <a:t>labeling</a:t>
            </a:r>
            <a:endParaRPr lang="en-IN" sz="1000" dirty="0"/>
          </a:p>
          <a:p>
            <a:pPr lvl="0"/>
            <a:r>
              <a:rPr lang="en-IN" sz="1000" dirty="0"/>
              <a:t>Simple 3-step wizard</a:t>
            </a:r>
          </a:p>
          <a:p>
            <a:pPr lvl="0"/>
            <a:r>
              <a:rPr lang="en-IN" sz="1000" dirty="0"/>
              <a:t>Config-driven scheme rules</a:t>
            </a:r>
          </a:p>
          <a:p>
            <a:pPr lvl="0"/>
            <a:r>
              <a:rPr lang="en-IN" sz="1000" dirty="0"/>
              <a:t>Free for beneficiaries</a:t>
            </a:r>
          </a:p>
        </p:txBody>
      </p:sp>
      <p:sp>
        <p:nvSpPr>
          <p:cNvPr id="366" name="Google Shape;366;p8"/>
          <p:cNvSpPr/>
          <p:nvPr/>
        </p:nvSpPr>
        <p:spPr>
          <a:xfrm>
            <a:off x="685800" y="4575198"/>
            <a:ext cx="10789920" cy="10058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 txBox="1"/>
          <p:nvPr/>
        </p:nvSpPr>
        <p:spPr>
          <a:xfrm>
            <a:off x="822960" y="461772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 dirty="0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Evidence that supports this frame</a:t>
            </a:r>
            <a:endParaRPr dirty="0"/>
          </a:p>
        </p:txBody>
      </p:sp>
      <p:sp>
        <p:nvSpPr>
          <p:cNvPr id="368" name="Google Shape;368;p8"/>
          <p:cNvSpPr txBox="1"/>
          <p:nvPr/>
        </p:nvSpPr>
        <p:spPr>
          <a:xfrm>
            <a:off x="868680" y="4876706"/>
            <a:ext cx="10424160" cy="65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000" b="1" dirty="0"/>
              <a:t>7.92 Crore rural establishments</a:t>
            </a:r>
            <a:r>
              <a:rPr lang="en-IN" sz="1000" dirty="0"/>
              <a:t> with </a:t>
            </a:r>
            <a:r>
              <a:rPr lang="en-IN" sz="1000" b="1" dirty="0"/>
              <a:t>99.1% unaudited</a:t>
            </a:r>
            <a:r>
              <a:rPr lang="en-IN" sz="1000" dirty="0"/>
              <a:t> (</a:t>
            </a:r>
            <a:r>
              <a:rPr lang="en-IN" sz="1000" dirty="0" err="1"/>
              <a:t>MoSPI</a:t>
            </a:r>
            <a:r>
              <a:rPr lang="en-IN" sz="1000" dirty="0"/>
              <a:t> ASUSE 2023-24) → Proves massive financial information gap</a:t>
            </a:r>
          </a:p>
          <a:p>
            <a:pPr lvl="0"/>
            <a:r>
              <a:rPr lang="en-IN" sz="1000" b="1" dirty="0"/>
              <a:t>6 existing platforms </a:t>
            </a:r>
            <a:r>
              <a:rPr lang="en-IN" sz="1000" b="1" dirty="0" err="1"/>
              <a:t>analyzed</a:t>
            </a:r>
            <a:r>
              <a:rPr lang="en-IN" sz="1000" dirty="0"/>
              <a:t> (</a:t>
            </a:r>
            <a:r>
              <a:rPr lang="en-IN" sz="1000" dirty="0" err="1"/>
              <a:t>JanSamarth</a:t>
            </a:r>
            <a:r>
              <a:rPr lang="en-IN" sz="1000" dirty="0"/>
              <a:t>, PM-SURAJ, SVEP, Udyam, AGMARKNET, </a:t>
            </a:r>
            <a:r>
              <a:rPr lang="en-IN" sz="1000" dirty="0" err="1"/>
              <a:t>Khatabook</a:t>
            </a:r>
            <a:r>
              <a:rPr lang="en-IN" sz="1000" dirty="0"/>
              <a:t>) → All solve individual functions but NONE provide integrated pre-investment decision support</a:t>
            </a:r>
          </a:p>
          <a:p>
            <a:pPr lvl="0"/>
            <a:r>
              <a:rPr lang="en-IN" sz="1000" b="1" dirty="0"/>
              <a:t>68% rural micro-enterprise failure rate</a:t>
            </a:r>
            <a:r>
              <a:rPr lang="en-IN" sz="1000" dirty="0"/>
              <a:t> within 3 years → Indicates poor initial planning and market validation, not lack of credit access</a:t>
            </a:r>
          </a:p>
        </p:txBody>
      </p:sp>
      <p:sp>
        <p:nvSpPr>
          <p:cNvPr id="369" name="Google Shape;369;p8"/>
          <p:cNvSpPr txBox="1"/>
          <p:nvPr/>
        </p:nvSpPr>
        <p:spPr>
          <a:xfrm>
            <a:off x="713232" y="56509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Jury check: Is this the right problem to solve, or only the first idea your team liked?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Ideathon Evaluation Rubric — First Diamond</a:t>
            </a:r>
            <a:endParaRPr/>
          </a:p>
        </p:txBody>
      </p:sp>
      <p:sp>
        <p:nvSpPr>
          <p:cNvPr id="378" name="Google Shape;378;p9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Use this internal rubric to understand what the jury will look for in your first submission.</a:t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100 POINTS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382" name="Google Shape;382;p9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85800" y="137160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 txBox="1"/>
          <p:nvPr/>
        </p:nvSpPr>
        <p:spPr>
          <a:xfrm>
            <a:off x="850392" y="15179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Problem understanding</a:t>
            </a:r>
            <a:endParaRPr/>
          </a:p>
        </p:txBody>
      </p:sp>
      <p:sp>
        <p:nvSpPr>
          <p:cNvPr id="385" name="Google Shape;385;p9"/>
          <p:cNvSpPr txBox="1"/>
          <p:nvPr/>
        </p:nvSpPr>
        <p:spPr>
          <a:xfrm>
            <a:off x="850392" y="1792224"/>
            <a:ext cx="416052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Highly specific to ₹10K-₹5L capital; backed by 68% failure rate data.</a:t>
            </a:r>
            <a:endParaRPr sz="1050" dirty="0"/>
          </a:p>
        </p:txBody>
      </p:sp>
      <p:sp>
        <p:nvSpPr>
          <p:cNvPr id="386" name="Google Shape;386;p9"/>
          <p:cNvSpPr/>
          <p:nvPr/>
        </p:nvSpPr>
        <p:spPr>
          <a:xfrm>
            <a:off x="5120640" y="153619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 txBox="1"/>
          <p:nvPr/>
        </p:nvSpPr>
        <p:spPr>
          <a:xfrm>
            <a:off x="5239512" y="164592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685800" y="237744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850392" y="252374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User / stakeholder evidence</a:t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850392" y="2798064"/>
            <a:ext cx="4160520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dirty="0"/>
              <a:t>4 distinct personas mapped; 5 core pain-points identified via secondary research.</a:t>
            </a:r>
            <a:endParaRPr sz="1100" dirty="0"/>
          </a:p>
        </p:txBody>
      </p:sp>
      <p:sp>
        <p:nvSpPr>
          <p:cNvPr id="391" name="Google Shape;391;p9"/>
          <p:cNvSpPr/>
          <p:nvPr/>
        </p:nvSpPr>
        <p:spPr>
          <a:xfrm>
            <a:off x="5120640" y="254203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 txBox="1"/>
          <p:nvPr/>
        </p:nvSpPr>
        <p:spPr>
          <a:xfrm>
            <a:off x="5239512" y="265176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685800" y="338328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850392" y="352958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Secondary research &amp; existing solutions</a:t>
            </a:r>
            <a:endParaRPr/>
          </a:p>
        </p:txBody>
      </p:sp>
      <p:sp>
        <p:nvSpPr>
          <p:cNvPr id="395" name="Google Shape;395;p9"/>
          <p:cNvSpPr txBox="1"/>
          <p:nvPr/>
        </p:nvSpPr>
        <p:spPr>
          <a:xfrm>
            <a:off x="850392" y="3803904"/>
            <a:ext cx="4160520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dirty="0"/>
              <a:t>6 platforms benchmarked (</a:t>
            </a:r>
            <a:r>
              <a:rPr lang="en-IN" sz="1100" dirty="0" err="1"/>
              <a:t>JanSamarth</a:t>
            </a:r>
            <a:r>
              <a:rPr lang="en-IN" sz="1100" dirty="0"/>
              <a:t>, PM-SURAJ, SVEP) with clear gap analysis.</a:t>
            </a:r>
            <a:endParaRPr sz="1050" dirty="0"/>
          </a:p>
        </p:txBody>
      </p:sp>
      <p:sp>
        <p:nvSpPr>
          <p:cNvPr id="396" name="Google Shape;396;p9"/>
          <p:cNvSpPr/>
          <p:nvPr/>
        </p:nvSpPr>
        <p:spPr>
          <a:xfrm>
            <a:off x="5120640" y="354787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5239512" y="365760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685800" y="438912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850392" y="453542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Root cause &amp; gap clarity</a:t>
            </a:r>
            <a:endParaRPr/>
          </a:p>
        </p:txBody>
      </p:sp>
      <p:sp>
        <p:nvSpPr>
          <p:cNvPr id="400" name="Google Shape;400;p9"/>
          <p:cNvSpPr txBox="1"/>
          <p:nvPr/>
        </p:nvSpPr>
        <p:spPr>
          <a:xfrm>
            <a:off x="850392" y="4809744"/>
            <a:ext cx="4160520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dirty="0"/>
              <a:t>5-Whys analysis proves the real issue is </a:t>
            </a:r>
            <a:r>
              <a:rPr lang="en-IN" sz="1100" i="1" dirty="0"/>
              <a:t>lack of pre-investment decision support</a:t>
            </a:r>
            <a:r>
              <a:rPr lang="en-IN" sz="1100" dirty="0"/>
              <a:t>, not just loans.</a:t>
            </a:r>
            <a:endParaRPr sz="1100" dirty="0"/>
          </a:p>
        </p:txBody>
      </p:sp>
      <p:sp>
        <p:nvSpPr>
          <p:cNvPr id="401" name="Google Shape;401;p9"/>
          <p:cNvSpPr/>
          <p:nvPr/>
        </p:nvSpPr>
        <p:spPr>
          <a:xfrm>
            <a:off x="5120640" y="455371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5239512" y="466344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6217920" y="137160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6382512" y="15179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Reframed problem + HMW</a:t>
            </a:r>
            <a:endParaRPr/>
          </a:p>
        </p:txBody>
      </p:sp>
      <p:sp>
        <p:nvSpPr>
          <p:cNvPr id="405" name="Google Shape;405;p9"/>
          <p:cNvSpPr txBox="1"/>
          <p:nvPr/>
        </p:nvSpPr>
        <p:spPr>
          <a:xfrm>
            <a:off x="6382512" y="1792224"/>
            <a:ext cx="416052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Shifted focus from "AI Chatbot" to "Pre-investment Decision Layer".</a:t>
            </a:r>
            <a:endParaRPr sz="1200" dirty="0"/>
          </a:p>
        </p:txBody>
      </p:sp>
      <p:sp>
        <p:nvSpPr>
          <p:cNvPr id="406" name="Google Shape;406;p9"/>
          <p:cNvSpPr/>
          <p:nvPr/>
        </p:nvSpPr>
        <p:spPr>
          <a:xfrm>
            <a:off x="10652759" y="153619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10771632" y="164592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6217920" y="237744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6382512" y="252374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Feasibility awareness</a:t>
            </a:r>
            <a:endParaRPr/>
          </a:p>
        </p:txBody>
      </p:sp>
      <p:sp>
        <p:nvSpPr>
          <p:cNvPr id="410" name="Google Shape;410;p9"/>
          <p:cNvSpPr txBox="1"/>
          <p:nvPr/>
        </p:nvSpPr>
        <p:spPr>
          <a:xfrm>
            <a:off x="6382512" y="2798064"/>
            <a:ext cx="4160520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1"/>
            <a:r>
              <a:rPr lang="en-IN" sz="1100" dirty="0"/>
              <a:t>7 design constraints documented; strictly separated AI text from deterministic math.</a:t>
            </a:r>
            <a:endParaRPr sz="1100" dirty="0"/>
          </a:p>
        </p:txBody>
      </p:sp>
      <p:sp>
        <p:nvSpPr>
          <p:cNvPr id="411" name="Google Shape;411;p9"/>
          <p:cNvSpPr/>
          <p:nvPr/>
        </p:nvSpPr>
        <p:spPr>
          <a:xfrm>
            <a:off x="10652759" y="254203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 txBox="1"/>
          <p:nvPr/>
        </p:nvSpPr>
        <p:spPr>
          <a:xfrm>
            <a:off x="10771632" y="265176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6217920" y="338328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6382512" y="352958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Quality of data presentation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382512" y="3803904"/>
            <a:ext cx="4160520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dirty="0"/>
              <a:t>Official citations (</a:t>
            </a:r>
            <a:r>
              <a:rPr lang="en-IN" sz="1100" dirty="0" err="1"/>
              <a:t>MoSPI</a:t>
            </a:r>
            <a:r>
              <a:rPr lang="en-IN" sz="1100" dirty="0"/>
              <a:t>, NABARD); honest about data limitations (Census 2011).</a:t>
            </a:r>
            <a:endParaRPr sz="1100" dirty="0"/>
          </a:p>
        </p:txBody>
      </p:sp>
      <p:sp>
        <p:nvSpPr>
          <p:cNvPr id="416" name="Google Shape;416;p9"/>
          <p:cNvSpPr/>
          <p:nvPr/>
        </p:nvSpPr>
        <p:spPr>
          <a:xfrm>
            <a:off x="10652759" y="354787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10771632" y="365760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6217920" y="4389120"/>
            <a:ext cx="5257800" cy="786384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 txBox="1"/>
          <p:nvPr/>
        </p:nvSpPr>
        <p:spPr>
          <a:xfrm>
            <a:off x="6382512" y="453542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Team effort &amp; role clarity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6382512" y="4809744"/>
            <a:ext cx="4160520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Clear division of </a:t>
            </a:r>
            <a:r>
              <a:rPr lang="en-IN" sz="1200" dirty="0" err="1"/>
              <a:t>labor</a:t>
            </a:r>
            <a:r>
              <a:rPr lang="en-IN" sz="1200" dirty="0"/>
              <a:t> (Research, Data, Prototype, Pitch).</a:t>
            </a:r>
            <a:endParaRPr sz="1200" dirty="0"/>
          </a:p>
        </p:txBody>
      </p:sp>
      <p:sp>
        <p:nvSpPr>
          <p:cNvPr id="421" name="Google Shape;421;p9"/>
          <p:cNvSpPr/>
          <p:nvPr/>
        </p:nvSpPr>
        <p:spPr>
          <a:xfrm>
            <a:off x="10652759" y="455371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 txBox="1"/>
          <p:nvPr/>
        </p:nvSpPr>
        <p:spPr>
          <a:xfrm>
            <a:off x="10771632" y="466344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713232" y="580644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This is a Kumaraguru internal evaluation framework for ideathon readiness.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DEVELOP: Generate Multiple Solution Directions</a:t>
            </a:r>
            <a:endParaRPr/>
          </a:p>
        </p:txBody>
      </p:sp>
      <p:sp>
        <p:nvSpPr>
          <p:cNvPr id="432" name="Google Shape;432;p10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After defining the right problem, explore more than one possible answer.</a:t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SECOND DIAMOND START</a:t>
            </a:r>
            <a:endParaRPr/>
          </a:p>
        </p:txBody>
      </p:sp>
      <p:sp>
        <p:nvSpPr>
          <p:cNvPr id="435" name="Google Shape;435;p10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436" name="Google Shape;436;p10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685800" y="141732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868680" y="15636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Concept 01</a:t>
            </a:r>
            <a:endParaRPr/>
          </a:p>
        </p:txBody>
      </p:sp>
      <p:sp>
        <p:nvSpPr>
          <p:cNvPr id="439" name="Google Shape;439;p10"/>
          <p:cNvSpPr txBox="1"/>
          <p:nvPr/>
        </p:nvSpPr>
        <p:spPr>
          <a:xfrm>
            <a:off x="868680" y="1892808"/>
            <a:ext cx="297180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Simple Q&amp;A bot to help users find and apply for government loan schemes.</a:t>
            </a:r>
            <a:endParaRPr sz="1200" dirty="0"/>
          </a:p>
        </p:txBody>
      </p:sp>
      <p:sp>
        <p:nvSpPr>
          <p:cNvPr id="440" name="Google Shape;440;p10"/>
          <p:cNvSpPr/>
          <p:nvPr/>
        </p:nvSpPr>
        <p:spPr>
          <a:xfrm>
            <a:off x="4416552" y="141732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 txBox="1"/>
          <p:nvPr/>
        </p:nvSpPr>
        <p:spPr>
          <a:xfrm>
            <a:off x="4599432" y="15636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Concept 02</a:t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4599432" y="1892808"/>
            <a:ext cx="2971800" cy="88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100" dirty="0"/>
              <a:t>Visual dashboard showing raw market data, competitor maps, and scheme details for entrepreneurs.</a:t>
            </a:r>
          </a:p>
          <a:p>
            <a:r>
              <a:rPr lang="en-IN" sz="1100" b="1" dirty="0"/>
              <a:t>Concept 03: </a:t>
            </a:r>
            <a:r>
              <a:rPr lang="en-IN" sz="1100" b="1" dirty="0" err="1"/>
              <a:t>GramSahayak</a:t>
            </a:r>
            <a:r>
              <a:rPr lang="en-IN" sz="1100" b="1" dirty="0"/>
              <a:t> AI (Decision Platform)</a:t>
            </a:r>
            <a:endParaRPr lang="en-IN" sz="1100" dirty="0"/>
          </a:p>
        </p:txBody>
      </p:sp>
      <p:sp>
        <p:nvSpPr>
          <p:cNvPr id="443" name="Google Shape;443;p10"/>
          <p:cNvSpPr/>
          <p:nvPr/>
        </p:nvSpPr>
        <p:spPr>
          <a:xfrm>
            <a:off x="8138160" y="141732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8321040" y="15636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Concept 03</a:t>
            </a:r>
            <a:endParaRPr/>
          </a:p>
        </p:txBody>
      </p:sp>
      <p:sp>
        <p:nvSpPr>
          <p:cNvPr id="445" name="Google Shape;445;p10"/>
          <p:cNvSpPr txBox="1"/>
          <p:nvPr/>
        </p:nvSpPr>
        <p:spPr>
          <a:xfrm>
            <a:off x="8321040" y="1892808"/>
            <a:ext cx="2971800" cy="5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Integrated platform combining hyper-local feasibility analysis with deterministic financial structuring before borrowing.</a:t>
            </a:r>
            <a:endParaRPr sz="1200" dirty="0"/>
          </a:p>
        </p:txBody>
      </p:sp>
      <p:sp>
        <p:nvSpPr>
          <p:cNvPr id="446" name="Google Shape;446;p10"/>
          <p:cNvSpPr/>
          <p:nvPr/>
        </p:nvSpPr>
        <p:spPr>
          <a:xfrm>
            <a:off x="685800" y="306324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 txBox="1"/>
          <p:nvPr/>
        </p:nvSpPr>
        <p:spPr>
          <a:xfrm>
            <a:off x="868680" y="32095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Selection criteria</a:t>
            </a:r>
            <a:endParaRPr/>
          </a:p>
        </p:txBody>
      </p:sp>
      <p:sp>
        <p:nvSpPr>
          <p:cNvPr id="448" name="Google Shape;448;p10"/>
          <p:cNvSpPr txBox="1"/>
          <p:nvPr/>
        </p:nvSpPr>
        <p:spPr>
          <a:xfrm>
            <a:off x="868680" y="3538728"/>
            <a:ext cx="2971800" cy="5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Impact on user, Financial safety (zero hallucinations), Rural suitability, Technical feasibility.</a:t>
            </a:r>
            <a:endParaRPr sz="1200" dirty="0"/>
          </a:p>
        </p:txBody>
      </p:sp>
      <p:sp>
        <p:nvSpPr>
          <p:cNvPr id="449" name="Google Shape;449;p10"/>
          <p:cNvSpPr/>
          <p:nvPr/>
        </p:nvSpPr>
        <p:spPr>
          <a:xfrm>
            <a:off x="4416552" y="306324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4599432" y="32095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Chosen direction</a:t>
            </a:r>
            <a:endParaRPr/>
          </a:p>
        </p:txBody>
      </p:sp>
      <p:sp>
        <p:nvSpPr>
          <p:cNvPr id="451" name="Google Shape;451;p10"/>
          <p:cNvSpPr txBox="1"/>
          <p:nvPr/>
        </p:nvSpPr>
        <p:spPr>
          <a:xfrm>
            <a:off x="4599432" y="3538728"/>
            <a:ext cx="2971800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Best balances deep problem-solving with technical safety.</a:t>
            </a:r>
            <a:endParaRPr sz="1200" dirty="0"/>
          </a:p>
        </p:txBody>
      </p:sp>
      <p:sp>
        <p:nvSpPr>
          <p:cNvPr id="452" name="Google Shape;452;p10"/>
          <p:cNvSpPr/>
          <p:nvPr/>
        </p:nvSpPr>
        <p:spPr>
          <a:xfrm>
            <a:off x="8138160" y="306324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8321040" y="32095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Rejected direction + reason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8321040" y="3538728"/>
            <a:ext cx="2971800" cy="5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 err="1"/>
              <a:t>isk</a:t>
            </a:r>
            <a:r>
              <a:rPr lang="en-IN" sz="1200" dirty="0"/>
              <a:t> of AI hallucinations in financial advice. </a:t>
            </a:r>
            <a:r>
              <a:rPr lang="en-IN" sz="1200" b="1" dirty="0"/>
              <a:t>Concept 02:</a:t>
            </a:r>
            <a:r>
              <a:rPr lang="en-IN" sz="1200" dirty="0"/>
              <a:t> Too complex for low-literacy rural users.</a:t>
            </a:r>
            <a:endParaRPr sz="1200" dirty="0"/>
          </a:p>
        </p:txBody>
      </p:sp>
      <p:sp>
        <p:nvSpPr>
          <p:cNvPr id="455" name="Google Shape;455;p10"/>
          <p:cNvSpPr/>
          <p:nvPr/>
        </p:nvSpPr>
        <p:spPr>
          <a:xfrm>
            <a:off x="685800" y="4828032"/>
            <a:ext cx="10789920" cy="566928"/>
          </a:xfrm>
          <a:prstGeom prst="roundRect">
            <a:avLst>
              <a:gd name="adj" fmla="val 16667"/>
            </a:avLst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868680" y="5029200"/>
            <a:ext cx="10424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64" name="Google Shape;464;p11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Iteration Log After Ideathon Review</a:t>
            </a:r>
            <a:endParaRPr/>
          </a:p>
        </p:txBody>
      </p:sp>
      <p:sp>
        <p:nvSpPr>
          <p:cNvPr id="465" name="Google Shape;465;p11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The iterated solution must show what improved because of feedback, evidence and team effort.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DUE: 11 SEP</a:t>
            </a:r>
            <a:endParaRPr/>
          </a:p>
        </p:txBody>
      </p:sp>
      <p:sp>
        <p:nvSpPr>
          <p:cNvPr id="468" name="Google Shape;468;p11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469" name="Google Shape;469;p11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685800" y="1417320"/>
            <a:ext cx="1783080" cy="4572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 txBox="1"/>
          <p:nvPr/>
        </p:nvSpPr>
        <p:spPr>
          <a:xfrm>
            <a:off x="722376" y="1536192"/>
            <a:ext cx="1709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2468880" y="1417320"/>
            <a:ext cx="1828800" cy="4572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2505456" y="1536192"/>
            <a:ext cx="175564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4297680" y="1417320"/>
            <a:ext cx="2286000" cy="4572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 txBox="1"/>
          <p:nvPr/>
        </p:nvSpPr>
        <p:spPr>
          <a:xfrm>
            <a:off x="4334256" y="1536192"/>
            <a:ext cx="221284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Feedback / Data</a:t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6583680" y="1417320"/>
            <a:ext cx="2286000" cy="4572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 txBox="1"/>
          <p:nvPr/>
        </p:nvSpPr>
        <p:spPr>
          <a:xfrm>
            <a:off x="6620256" y="1536192"/>
            <a:ext cx="221284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iteration</a:t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8869680" y="1417320"/>
            <a:ext cx="1554480" cy="4572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 txBox="1"/>
          <p:nvPr/>
        </p:nvSpPr>
        <p:spPr>
          <a:xfrm>
            <a:off x="8906255" y="1536192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10424160" y="1417320"/>
            <a:ext cx="1051560" cy="457200"/>
          </a:xfrm>
          <a:prstGeom prst="rect">
            <a:avLst/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10460736" y="1536192"/>
            <a:ext cx="97840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685800" y="1892807"/>
            <a:ext cx="17830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 txBox="1"/>
          <p:nvPr/>
        </p:nvSpPr>
        <p:spPr>
          <a:xfrm>
            <a:off x="722376" y="2057400"/>
            <a:ext cx="1709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Problem frame</a:t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2468880" y="1892807"/>
            <a:ext cx="18288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 txBox="1"/>
          <p:nvPr/>
        </p:nvSpPr>
        <p:spPr>
          <a:xfrm>
            <a:off x="2505456" y="2057400"/>
            <a:ext cx="1755648" cy="29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Build a full scale application for small </a:t>
            </a:r>
            <a:r>
              <a:rPr lang="en-US" sz="850" b="0" i="0" u="none" strike="noStrike" cap="none" dirty="0" err="1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buesness</a:t>
            </a:r>
            <a:r>
              <a:rPr lang="en-US" sz="850" b="0" i="0" u="none" strike="noStrike" cap="none" dirty="0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 for a </a:t>
            </a:r>
            <a:r>
              <a:rPr lang="en-US" sz="850" dirty="0">
                <a:solidFill>
                  <a:srgbClr val="667485"/>
                </a:solidFill>
              </a:rPr>
              <a:t>support</a:t>
            </a:r>
            <a:endParaRPr dirty="0"/>
          </a:p>
        </p:txBody>
      </p:sp>
      <p:sp>
        <p:nvSpPr>
          <p:cNvPr id="486" name="Google Shape;486;p11"/>
          <p:cNvSpPr/>
          <p:nvPr/>
        </p:nvSpPr>
        <p:spPr>
          <a:xfrm>
            <a:off x="4297680" y="1892807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 txBox="1"/>
          <p:nvPr/>
        </p:nvSpPr>
        <p:spPr>
          <a:xfrm>
            <a:off x="4334256" y="2057400"/>
            <a:ext cx="221284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6583680" y="1892807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 txBox="1"/>
          <p:nvPr/>
        </p:nvSpPr>
        <p:spPr>
          <a:xfrm>
            <a:off x="6620256" y="2057400"/>
            <a:ext cx="22128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Pre-investment decision layer</a:t>
            </a:r>
            <a:endParaRPr sz="1200" dirty="0"/>
          </a:p>
        </p:txBody>
      </p:sp>
      <p:sp>
        <p:nvSpPr>
          <p:cNvPr id="490" name="Google Shape;490;p11"/>
          <p:cNvSpPr/>
          <p:nvPr/>
        </p:nvSpPr>
        <p:spPr>
          <a:xfrm>
            <a:off x="8869680" y="1892807"/>
            <a:ext cx="15544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 txBox="1"/>
          <p:nvPr/>
        </p:nvSpPr>
        <p:spPr>
          <a:xfrm>
            <a:off x="8906255" y="2057400"/>
            <a:ext cx="148132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68% failure rate data</a:t>
            </a:r>
            <a:endParaRPr sz="1200" dirty="0"/>
          </a:p>
        </p:txBody>
      </p:sp>
      <p:sp>
        <p:nvSpPr>
          <p:cNvPr id="492" name="Google Shape;492;p11"/>
          <p:cNvSpPr/>
          <p:nvPr/>
        </p:nvSpPr>
        <p:spPr>
          <a:xfrm>
            <a:off x="10424160" y="1892807"/>
            <a:ext cx="10515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10460736" y="2057400"/>
            <a:ext cx="97840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685800" y="2505456"/>
            <a:ext cx="17830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 txBox="1"/>
          <p:nvPr/>
        </p:nvSpPr>
        <p:spPr>
          <a:xfrm>
            <a:off x="722376" y="2670048"/>
            <a:ext cx="1709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User insight</a:t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2468880" y="2505456"/>
            <a:ext cx="18288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2505456" y="2670048"/>
            <a:ext cx="17556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rural user</a:t>
            </a:r>
            <a:endParaRPr sz="1200" dirty="0"/>
          </a:p>
        </p:txBody>
      </p:sp>
      <p:sp>
        <p:nvSpPr>
          <p:cNvPr id="498" name="Google Shape;498;p11"/>
          <p:cNvSpPr/>
          <p:nvPr/>
        </p:nvSpPr>
        <p:spPr>
          <a:xfrm>
            <a:off x="4297680" y="2505456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 txBox="1"/>
          <p:nvPr/>
        </p:nvSpPr>
        <p:spPr>
          <a:xfrm>
            <a:off x="4334256" y="2670048"/>
            <a:ext cx="2212848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Need specific personas &amp; pain points</a:t>
            </a:r>
            <a:endParaRPr sz="1200" dirty="0"/>
          </a:p>
        </p:txBody>
      </p:sp>
      <p:sp>
        <p:nvSpPr>
          <p:cNvPr id="500" name="Google Shape;500;p11"/>
          <p:cNvSpPr/>
          <p:nvPr/>
        </p:nvSpPr>
        <p:spPr>
          <a:xfrm>
            <a:off x="6583680" y="2505456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 txBox="1"/>
          <p:nvPr/>
        </p:nvSpPr>
        <p:spPr>
          <a:xfrm>
            <a:off x="6620256" y="2670048"/>
            <a:ext cx="22128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4 distinct personas mapped</a:t>
            </a:r>
            <a:endParaRPr sz="1200" dirty="0"/>
          </a:p>
        </p:txBody>
      </p:sp>
      <p:sp>
        <p:nvSpPr>
          <p:cNvPr id="502" name="Google Shape;502;p11"/>
          <p:cNvSpPr/>
          <p:nvPr/>
        </p:nvSpPr>
        <p:spPr>
          <a:xfrm>
            <a:off x="8869680" y="2505456"/>
            <a:ext cx="15544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 txBox="1"/>
          <p:nvPr/>
        </p:nvSpPr>
        <p:spPr>
          <a:xfrm>
            <a:off x="8906255" y="2670048"/>
            <a:ext cx="148132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Secondary research</a:t>
            </a:r>
            <a:endParaRPr sz="1200" dirty="0"/>
          </a:p>
        </p:txBody>
      </p:sp>
      <p:sp>
        <p:nvSpPr>
          <p:cNvPr id="504" name="Google Shape;504;p11"/>
          <p:cNvSpPr/>
          <p:nvPr/>
        </p:nvSpPr>
        <p:spPr>
          <a:xfrm>
            <a:off x="10424160" y="2505456"/>
            <a:ext cx="10515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 txBox="1"/>
          <p:nvPr/>
        </p:nvSpPr>
        <p:spPr>
          <a:xfrm>
            <a:off x="10460736" y="2670048"/>
            <a:ext cx="97840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685800" y="3118104"/>
            <a:ext cx="17830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 txBox="1"/>
          <p:nvPr/>
        </p:nvSpPr>
        <p:spPr>
          <a:xfrm>
            <a:off x="722376" y="3282696"/>
            <a:ext cx="1709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Gap / novelty</a:t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2468880" y="3118104"/>
            <a:ext cx="18288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 txBox="1"/>
          <p:nvPr/>
        </p:nvSpPr>
        <p:spPr>
          <a:xfrm>
            <a:off x="2505456" y="3282696"/>
            <a:ext cx="17556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Loan discovery focus</a:t>
            </a:r>
            <a:endParaRPr sz="1200" dirty="0"/>
          </a:p>
        </p:txBody>
      </p:sp>
      <p:sp>
        <p:nvSpPr>
          <p:cNvPr id="510" name="Google Shape;510;p11"/>
          <p:cNvSpPr/>
          <p:nvPr/>
        </p:nvSpPr>
        <p:spPr>
          <a:xfrm>
            <a:off x="4297680" y="3118104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 txBox="1"/>
          <p:nvPr/>
        </p:nvSpPr>
        <p:spPr>
          <a:xfrm>
            <a:off x="4334256" y="3282696"/>
            <a:ext cx="22128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Missing local market validation</a:t>
            </a:r>
            <a:endParaRPr sz="1200" dirty="0"/>
          </a:p>
        </p:txBody>
      </p:sp>
      <p:sp>
        <p:nvSpPr>
          <p:cNvPr id="512" name="Google Shape;512;p11"/>
          <p:cNvSpPr/>
          <p:nvPr/>
        </p:nvSpPr>
        <p:spPr>
          <a:xfrm>
            <a:off x="6583680" y="3118104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 txBox="1"/>
          <p:nvPr/>
        </p:nvSpPr>
        <p:spPr>
          <a:xfrm>
            <a:off x="6620256" y="3282696"/>
            <a:ext cx="22128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Feasibility + Finance combined</a:t>
            </a:r>
            <a:endParaRPr sz="1200" dirty="0"/>
          </a:p>
        </p:txBody>
      </p:sp>
      <p:sp>
        <p:nvSpPr>
          <p:cNvPr id="514" name="Google Shape;514;p11"/>
          <p:cNvSpPr/>
          <p:nvPr/>
        </p:nvSpPr>
        <p:spPr>
          <a:xfrm>
            <a:off x="8869680" y="3118104"/>
            <a:ext cx="15544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 txBox="1"/>
          <p:nvPr/>
        </p:nvSpPr>
        <p:spPr>
          <a:xfrm>
            <a:off x="8906255" y="3282696"/>
            <a:ext cx="148132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Competitor analysis</a:t>
            </a:r>
            <a:endParaRPr sz="1200" dirty="0"/>
          </a:p>
        </p:txBody>
      </p:sp>
      <p:sp>
        <p:nvSpPr>
          <p:cNvPr id="516" name="Google Shape;516;p11"/>
          <p:cNvSpPr/>
          <p:nvPr/>
        </p:nvSpPr>
        <p:spPr>
          <a:xfrm>
            <a:off x="10424160" y="3118104"/>
            <a:ext cx="10515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 txBox="1"/>
          <p:nvPr/>
        </p:nvSpPr>
        <p:spPr>
          <a:xfrm>
            <a:off x="10460736" y="3282696"/>
            <a:ext cx="97840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685800" y="3730752"/>
            <a:ext cx="17830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 txBox="1"/>
          <p:nvPr/>
        </p:nvSpPr>
        <p:spPr>
          <a:xfrm>
            <a:off x="722376" y="3895344"/>
            <a:ext cx="1709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2468880" y="3730752"/>
            <a:ext cx="18288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 txBox="1"/>
          <p:nvPr/>
        </p:nvSpPr>
        <p:spPr>
          <a:xfrm>
            <a:off x="2505456" y="3895344"/>
            <a:ext cx="1755648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dirty="0"/>
              <a:t>Generic AI generation</a:t>
            </a:r>
            <a:endParaRPr sz="1100" dirty="0"/>
          </a:p>
        </p:txBody>
      </p:sp>
      <p:sp>
        <p:nvSpPr>
          <p:cNvPr id="522" name="Google Shape;522;p11"/>
          <p:cNvSpPr/>
          <p:nvPr/>
        </p:nvSpPr>
        <p:spPr>
          <a:xfrm>
            <a:off x="4297680" y="3730752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 txBox="1"/>
          <p:nvPr/>
        </p:nvSpPr>
        <p:spPr>
          <a:xfrm>
            <a:off x="4334256" y="3895344"/>
            <a:ext cx="2212848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dirty="0"/>
              <a:t>AI cannot do math safely</a:t>
            </a:r>
            <a:endParaRPr sz="1100" dirty="0"/>
          </a:p>
        </p:txBody>
      </p:sp>
      <p:sp>
        <p:nvSpPr>
          <p:cNvPr id="524" name="Google Shape;524;p11"/>
          <p:cNvSpPr/>
          <p:nvPr/>
        </p:nvSpPr>
        <p:spPr>
          <a:xfrm>
            <a:off x="6583680" y="3730752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 txBox="1"/>
          <p:nvPr/>
        </p:nvSpPr>
        <p:spPr>
          <a:xfrm>
            <a:off x="6620256" y="3895344"/>
            <a:ext cx="2212848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dirty="0"/>
              <a:t>Two-tier: AI insights + Deterministic math</a:t>
            </a:r>
            <a:endParaRPr sz="1100" dirty="0"/>
          </a:p>
        </p:txBody>
      </p:sp>
      <p:sp>
        <p:nvSpPr>
          <p:cNvPr id="526" name="Google Shape;526;p11"/>
          <p:cNvSpPr/>
          <p:nvPr/>
        </p:nvSpPr>
        <p:spPr>
          <a:xfrm>
            <a:off x="8869680" y="3730752"/>
            <a:ext cx="15544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 txBox="1"/>
          <p:nvPr/>
        </p:nvSpPr>
        <p:spPr>
          <a:xfrm>
            <a:off x="8906255" y="3895344"/>
            <a:ext cx="1481328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dirty="0"/>
              <a:t>Architecture design</a:t>
            </a:r>
            <a:endParaRPr sz="1100" dirty="0"/>
          </a:p>
        </p:txBody>
      </p:sp>
      <p:sp>
        <p:nvSpPr>
          <p:cNvPr id="528" name="Google Shape;528;p11"/>
          <p:cNvSpPr/>
          <p:nvPr/>
        </p:nvSpPr>
        <p:spPr>
          <a:xfrm>
            <a:off x="10424160" y="3730752"/>
            <a:ext cx="10515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 txBox="1"/>
          <p:nvPr/>
        </p:nvSpPr>
        <p:spPr>
          <a:xfrm>
            <a:off x="10460736" y="3895344"/>
            <a:ext cx="97840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685800" y="4343400"/>
            <a:ext cx="17830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 txBox="1"/>
          <p:nvPr/>
        </p:nvSpPr>
        <p:spPr>
          <a:xfrm>
            <a:off x="722376" y="4507992"/>
            <a:ext cx="1709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Prototype plan</a:t>
            </a: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2468880" y="4343400"/>
            <a:ext cx="18288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 txBox="1"/>
          <p:nvPr/>
        </p:nvSpPr>
        <p:spPr>
          <a:xfrm>
            <a:off x="2505456" y="4507992"/>
            <a:ext cx="1755648" cy="20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dirty="0"/>
              <a:t>Pan-India coverage</a:t>
            </a:r>
            <a:endParaRPr sz="1100" dirty="0"/>
          </a:p>
        </p:txBody>
      </p:sp>
      <p:sp>
        <p:nvSpPr>
          <p:cNvPr id="534" name="Google Shape;534;p11"/>
          <p:cNvSpPr/>
          <p:nvPr/>
        </p:nvSpPr>
        <p:spPr>
          <a:xfrm>
            <a:off x="4297680" y="4343400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 txBox="1"/>
          <p:nvPr/>
        </p:nvSpPr>
        <p:spPr>
          <a:xfrm>
            <a:off x="4334256" y="4507992"/>
            <a:ext cx="221284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Too broad for MVP</a:t>
            </a:r>
            <a:endParaRPr sz="1200" dirty="0"/>
          </a:p>
        </p:txBody>
      </p:sp>
      <p:sp>
        <p:nvSpPr>
          <p:cNvPr id="536" name="Google Shape;536;p11"/>
          <p:cNvSpPr/>
          <p:nvPr/>
        </p:nvSpPr>
        <p:spPr>
          <a:xfrm>
            <a:off x="6583680" y="4343400"/>
            <a:ext cx="228600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 txBox="1"/>
          <p:nvPr/>
        </p:nvSpPr>
        <p:spPr>
          <a:xfrm>
            <a:off x="6620256" y="4507992"/>
            <a:ext cx="2212848" cy="4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Scoped: 1 State, 5 villages, 5 businesses</a:t>
            </a:r>
            <a:endParaRPr sz="1200" dirty="0"/>
          </a:p>
        </p:txBody>
      </p:sp>
      <p:sp>
        <p:nvSpPr>
          <p:cNvPr id="538" name="Google Shape;538;p11"/>
          <p:cNvSpPr/>
          <p:nvPr/>
        </p:nvSpPr>
        <p:spPr>
          <a:xfrm>
            <a:off x="8869680" y="4343400"/>
            <a:ext cx="155448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 txBox="1"/>
          <p:nvPr/>
        </p:nvSpPr>
        <p:spPr>
          <a:xfrm>
            <a:off x="8906255" y="4507992"/>
            <a:ext cx="1481328" cy="22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200" dirty="0"/>
              <a:t>Feasibility check</a:t>
            </a:r>
            <a:endParaRPr sz="1200" dirty="0"/>
          </a:p>
        </p:txBody>
      </p:sp>
      <p:sp>
        <p:nvSpPr>
          <p:cNvPr id="540" name="Google Shape;540;p11"/>
          <p:cNvSpPr/>
          <p:nvPr/>
        </p:nvSpPr>
        <p:spPr>
          <a:xfrm>
            <a:off x="10424160" y="4343400"/>
            <a:ext cx="10515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 txBox="1"/>
          <p:nvPr/>
        </p:nvSpPr>
        <p:spPr>
          <a:xfrm>
            <a:off x="10460736" y="4507992"/>
            <a:ext cx="978407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685800" y="5212080"/>
            <a:ext cx="10789920" cy="5486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 txBox="1"/>
          <p:nvPr/>
        </p:nvSpPr>
        <p:spPr>
          <a:xfrm>
            <a:off x="896112" y="5376672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Final check:</a:t>
            </a:r>
            <a:endParaRPr/>
          </a:p>
        </p:txBody>
      </p:sp>
      <p:sp>
        <p:nvSpPr>
          <p:cNvPr id="544" name="Google Shape;544;p11"/>
          <p:cNvSpPr txBox="1"/>
          <p:nvPr/>
        </p:nvSpPr>
        <p:spPr>
          <a:xfrm>
            <a:off x="1901952" y="5330952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52" name="Google Shape;552;p12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Proposed Solution V2</a:t>
            </a:r>
            <a:endParaRPr/>
          </a:p>
        </p:txBody>
      </p:sp>
      <p:sp>
        <p:nvSpPr>
          <p:cNvPr id="553" name="Google Shape;553;p12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Present the improved solution after the first-diamond evaluation and iteration.</a:t>
            </a:r>
            <a:endParaRPr/>
          </a:p>
        </p:txBody>
      </p:sp>
      <p:sp>
        <p:nvSpPr>
          <p:cNvPr id="554" name="Google Shape;554;p12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ITERATED SOLUTION</a:t>
            </a:r>
            <a:endParaRPr/>
          </a:p>
        </p:txBody>
      </p:sp>
      <p:sp>
        <p:nvSpPr>
          <p:cNvPr id="556" name="Google Shape;556;p12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557" name="Google Shape;557;p12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685800" y="1417320"/>
            <a:ext cx="4846320" cy="15544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 txBox="1"/>
          <p:nvPr/>
        </p:nvSpPr>
        <p:spPr>
          <a:xfrm>
            <a:off x="868680" y="1563624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  <a:endParaRPr/>
          </a:p>
        </p:txBody>
      </p:sp>
      <p:sp>
        <p:nvSpPr>
          <p:cNvPr id="560" name="Google Shape;560;p12"/>
          <p:cNvSpPr txBox="1"/>
          <p:nvPr/>
        </p:nvSpPr>
        <p:spPr>
          <a:xfrm>
            <a:off x="868680" y="1892808"/>
            <a:ext cx="4480559" cy="77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b="1" dirty="0" err="1"/>
              <a:t>GramSahayak</a:t>
            </a:r>
            <a:r>
              <a:rPr lang="en-IN" sz="1200" b="1" dirty="0"/>
              <a:t> AI:</a:t>
            </a:r>
            <a:r>
              <a:rPr lang="en-IN" sz="1200" dirty="0"/>
              <a:t> A two-tier decision platform that helps rural entrepreneurs evaluate business feasibility and structure financing </a:t>
            </a:r>
            <a:r>
              <a:rPr lang="en-IN" sz="1200" i="1" dirty="0"/>
              <a:t>before</a:t>
            </a:r>
            <a:r>
              <a:rPr lang="en-IN" sz="1200" dirty="0"/>
              <a:t> investing, using verified local data and 100% accurate financial rules.</a:t>
            </a:r>
            <a:endParaRPr sz="1200" dirty="0"/>
          </a:p>
        </p:txBody>
      </p:sp>
      <p:sp>
        <p:nvSpPr>
          <p:cNvPr id="561" name="Google Shape;561;p12"/>
          <p:cNvSpPr/>
          <p:nvPr/>
        </p:nvSpPr>
        <p:spPr>
          <a:xfrm>
            <a:off x="5669280" y="1344168"/>
            <a:ext cx="5669280" cy="4956048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 txBox="1"/>
          <p:nvPr/>
        </p:nvSpPr>
        <p:spPr>
          <a:xfrm>
            <a:off x="5989320" y="156362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Solution architecture / workflow</a:t>
            </a:r>
            <a:endParaRPr/>
          </a:p>
        </p:txBody>
      </p:sp>
      <p:sp>
        <p:nvSpPr>
          <p:cNvPr id="563" name="Google Shape;563;p12"/>
          <p:cNvSpPr txBox="1"/>
          <p:nvPr/>
        </p:nvSpPr>
        <p:spPr>
          <a:xfrm>
            <a:off x="5989320" y="1892808"/>
            <a:ext cx="5303520" cy="423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050" b="1" dirty="0"/>
              <a:t>1️⃣ User Input (The Starting Point)</a:t>
            </a:r>
            <a:endParaRPr lang="en-IN" sz="1050" dirty="0"/>
          </a:p>
          <a:p>
            <a:pPr lvl="0"/>
            <a:r>
              <a:rPr lang="en-IN" sz="1050" b="1" dirty="0"/>
              <a:t>What it is:</a:t>
            </a:r>
            <a:r>
              <a:rPr lang="en-IN" sz="1050" dirty="0"/>
              <a:t> A simple 3-step form.</a:t>
            </a:r>
          </a:p>
          <a:p>
            <a:pPr lvl="0"/>
            <a:r>
              <a:rPr lang="en-IN" sz="1050" b="1" dirty="0"/>
              <a:t>How it works:</a:t>
            </a:r>
            <a:r>
              <a:rPr lang="en-IN" sz="1050" dirty="0"/>
              <a:t> The rural entrepreneur just enters three things: </a:t>
            </a:r>
            <a:r>
              <a:rPr lang="en-IN" sz="1050" b="1" dirty="0"/>
              <a:t>Location</a:t>
            </a:r>
            <a:r>
              <a:rPr lang="en-IN" sz="1050" dirty="0"/>
              <a:t> (Village), </a:t>
            </a:r>
            <a:r>
              <a:rPr lang="en-IN" sz="1050" b="1" dirty="0"/>
              <a:t>Capital</a:t>
            </a:r>
            <a:r>
              <a:rPr lang="en-IN" sz="1050" dirty="0"/>
              <a:t> (e.g., ₹50,000), and </a:t>
            </a:r>
            <a:r>
              <a:rPr lang="en-IN" sz="1050" b="1" dirty="0"/>
              <a:t>Business Idea</a:t>
            </a:r>
            <a:r>
              <a:rPr lang="en-IN" sz="1050" dirty="0"/>
              <a:t> (e.g., Dairy).</a:t>
            </a:r>
          </a:p>
          <a:p>
            <a:pPr lvl="0"/>
            <a:r>
              <a:rPr lang="en-IN" sz="1050" i="1" dirty="0"/>
              <a:t>Why it matters:</a:t>
            </a:r>
            <a:r>
              <a:rPr lang="en-IN" sz="1050" dirty="0"/>
              <a:t> Keeps the UI extremely simple for users with low digital literacy.</a:t>
            </a:r>
          </a:p>
          <a:p>
            <a:r>
              <a:rPr lang="en-IN" sz="1050" b="1" dirty="0"/>
              <a:t>2️⃣ Local Intelligence Engine (The Data Gatherer)</a:t>
            </a:r>
            <a:endParaRPr lang="en-IN" sz="1050" dirty="0"/>
          </a:p>
          <a:p>
            <a:pPr lvl="0"/>
            <a:r>
              <a:rPr lang="en-IN" sz="1050" b="1" dirty="0"/>
              <a:t>What it is:</a:t>
            </a:r>
            <a:r>
              <a:rPr lang="en-IN" sz="1050" dirty="0"/>
              <a:t> The system's connection to real-world data.</a:t>
            </a:r>
          </a:p>
          <a:p>
            <a:pPr lvl="0"/>
            <a:r>
              <a:rPr lang="en-IN" sz="1050" b="1" dirty="0"/>
              <a:t>How it works:</a:t>
            </a:r>
            <a:r>
              <a:rPr lang="en-IN" sz="1050" dirty="0"/>
              <a:t> It automatically pulls </a:t>
            </a:r>
            <a:r>
              <a:rPr lang="en-IN" sz="1050" b="1" dirty="0"/>
              <a:t>Census data</a:t>
            </a:r>
            <a:r>
              <a:rPr lang="en-IN" sz="1050" dirty="0"/>
              <a:t> (to estimate local population/households) and queries </a:t>
            </a:r>
            <a:r>
              <a:rPr lang="en-IN" sz="1050" b="1" dirty="0"/>
              <a:t>OpenStreetMap (OSM)</a:t>
            </a:r>
            <a:r>
              <a:rPr lang="en-IN" sz="1050" dirty="0"/>
              <a:t> (to count existing similar businesses within a 5km radius).</a:t>
            </a:r>
          </a:p>
          <a:p>
            <a:pPr lvl="0"/>
            <a:r>
              <a:rPr lang="en-IN" sz="1050" i="1" dirty="0"/>
              <a:t>Why it matters:</a:t>
            </a:r>
            <a:r>
              <a:rPr lang="en-IN" sz="1050" dirty="0"/>
              <a:t> This ensures our AI is grounded in </a:t>
            </a:r>
            <a:r>
              <a:rPr lang="en-IN" sz="1050" i="1" dirty="0"/>
              <a:t>real data</a:t>
            </a:r>
            <a:r>
              <a:rPr lang="en-IN" sz="1050" dirty="0"/>
              <a:t>, not making up fake village statistics (no hallucinations).</a:t>
            </a:r>
          </a:p>
          <a:p>
            <a:r>
              <a:rPr lang="en-IN" sz="1050" b="1" dirty="0"/>
              <a:t>3️⃣ Feasibility Engine (The "Business Brain")</a:t>
            </a:r>
            <a:endParaRPr lang="en-IN" sz="1050" dirty="0"/>
          </a:p>
          <a:p>
            <a:pPr lvl="0"/>
            <a:r>
              <a:rPr lang="en-IN" sz="1050" b="1" dirty="0"/>
              <a:t>What it is:</a:t>
            </a:r>
            <a:r>
              <a:rPr lang="en-IN" sz="1050" dirty="0"/>
              <a:t> The analytical core that checks if the business makes sense.</a:t>
            </a:r>
          </a:p>
          <a:p>
            <a:pPr lvl="0"/>
            <a:r>
              <a:rPr lang="en-IN" sz="1050" b="1" dirty="0"/>
              <a:t>How it works:</a:t>
            </a:r>
            <a:r>
              <a:rPr lang="en-IN" sz="1050" dirty="0"/>
              <a:t> It uses the data from Step 2 to calculate a </a:t>
            </a:r>
            <a:r>
              <a:rPr lang="en-IN" sz="1050" b="1" dirty="0"/>
              <a:t>Purchasing Power Index</a:t>
            </a:r>
            <a:r>
              <a:rPr lang="en-IN" sz="1050" dirty="0"/>
              <a:t> (proxy math). Then, it uses an </a:t>
            </a:r>
            <a:r>
              <a:rPr lang="en-IN" sz="1050" b="1" dirty="0"/>
              <a:t>LLM (AI)</a:t>
            </a:r>
            <a:r>
              <a:rPr lang="en-IN" sz="1050" dirty="0"/>
              <a:t> to generate a customized SWOT analysis and risk report based </a:t>
            </a:r>
            <a:r>
              <a:rPr lang="en-IN" sz="1050" i="1" dirty="0"/>
              <a:t>only</a:t>
            </a:r>
            <a:r>
              <a:rPr lang="en-IN" sz="1050" dirty="0"/>
              <a:t> on those verified numbers.</a:t>
            </a:r>
          </a:p>
          <a:p>
            <a:pPr lvl="0"/>
            <a:r>
              <a:rPr lang="en-IN" sz="1050" i="1" dirty="0"/>
              <a:t>Why it matters:</a:t>
            </a:r>
            <a:r>
              <a:rPr lang="en-IN" sz="1050" dirty="0"/>
              <a:t> Tells the user if there is actual market demand and who their local competitors are.</a:t>
            </a:r>
          </a:p>
          <a:p>
            <a:r>
              <a:rPr lang="en-IN" sz="1050" b="1" dirty="0"/>
              <a:t>4️⃣ Financial Engine (The "Strict Calculator")</a:t>
            </a:r>
            <a:endParaRPr lang="en-IN" sz="1050" dirty="0"/>
          </a:p>
          <a:p>
            <a:pPr lvl="0"/>
            <a:r>
              <a:rPr lang="en-IN" sz="1050" b="1" dirty="0"/>
              <a:t>What it is:</a:t>
            </a:r>
            <a:r>
              <a:rPr lang="en-IN" sz="1050" dirty="0"/>
              <a:t> A 100% deterministic math module. </a:t>
            </a:r>
            <a:r>
              <a:rPr lang="en-IN" sz="1050" b="1" dirty="0"/>
              <a:t>Zero AI is used here.</a:t>
            </a:r>
            <a:endParaRPr lang="en-IN" sz="1050" dirty="0"/>
          </a:p>
          <a:p>
            <a:pPr lvl="0"/>
            <a:r>
              <a:rPr lang="en-IN" sz="1050" b="1" dirty="0"/>
              <a:t>How it works:</a:t>
            </a:r>
            <a:r>
              <a:rPr lang="en-IN" sz="1050" dirty="0"/>
              <a:t> It takes the user's capital, calculates the total project cost (Capital ÷ 10%), determines the loan amount (90%), and applies the exact official interest rates (6.5% or 8%) and moratorium periods to calculate the exact quarterly EMI.</a:t>
            </a:r>
          </a:p>
          <a:p>
            <a:pPr lvl="0"/>
            <a:r>
              <a:rPr lang="en-IN" sz="1050" i="1" dirty="0"/>
              <a:t>Why it matters:</a:t>
            </a:r>
            <a:r>
              <a:rPr lang="en-IN" sz="1050" dirty="0"/>
              <a:t> Financial advice must be 100% accurate. By keeping AI out of the math, we eliminate financial hallucinations.</a:t>
            </a:r>
          </a:p>
        </p:txBody>
      </p:sp>
      <p:sp>
        <p:nvSpPr>
          <p:cNvPr id="564" name="Google Shape;564;p12"/>
          <p:cNvSpPr/>
          <p:nvPr/>
        </p:nvSpPr>
        <p:spPr>
          <a:xfrm>
            <a:off x="685800" y="3246119"/>
            <a:ext cx="4846320" cy="1735691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868680" y="3392424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Core technology / approach</a:t>
            </a:r>
            <a:endParaRPr/>
          </a:p>
        </p:txBody>
      </p:sp>
      <p:sp>
        <p:nvSpPr>
          <p:cNvPr id="566" name="Google Shape;566;p12"/>
          <p:cNvSpPr txBox="1"/>
          <p:nvPr/>
        </p:nvSpPr>
        <p:spPr>
          <a:xfrm>
            <a:off x="868680" y="3721608"/>
            <a:ext cx="4480559" cy="120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100" b="1" dirty="0"/>
              <a:t>Core Technology / Approach</a:t>
            </a:r>
          </a:p>
          <a:p>
            <a:pPr lvl="0"/>
            <a:r>
              <a:rPr lang="en-IN" sz="1100" b="1" dirty="0"/>
              <a:t>App Platform:</a:t>
            </a:r>
            <a:r>
              <a:rPr lang="en-IN" sz="1100" dirty="0"/>
              <a:t> Responsive Web App + Mobile App (React / Flutter)</a:t>
            </a:r>
          </a:p>
          <a:p>
            <a:pPr lvl="0"/>
            <a:r>
              <a:rPr lang="en-IN" sz="1100" b="1" dirty="0"/>
              <a:t>Backend &amp; Data:</a:t>
            </a:r>
            <a:r>
              <a:rPr lang="en-IN" sz="1100" dirty="0"/>
              <a:t> Python (</a:t>
            </a:r>
            <a:r>
              <a:rPr lang="en-IN" sz="1100" dirty="0" err="1"/>
              <a:t>FastAPI</a:t>
            </a:r>
            <a:r>
              <a:rPr lang="en-IN" sz="1100" dirty="0"/>
              <a:t>) + PostgreSQL/</a:t>
            </a:r>
            <a:r>
              <a:rPr lang="en-IN" sz="1100" dirty="0" err="1"/>
              <a:t>PostGIS</a:t>
            </a:r>
            <a:r>
              <a:rPr lang="en-IN" sz="1100" dirty="0"/>
              <a:t> (Geo-data)</a:t>
            </a:r>
          </a:p>
          <a:p>
            <a:pPr lvl="0"/>
            <a:r>
              <a:rPr lang="en-IN" sz="1100" b="1" dirty="0"/>
              <a:t>AI Layer:</a:t>
            </a:r>
            <a:r>
              <a:rPr lang="en-IN" sz="1100" dirty="0"/>
              <a:t> RAG pipeline (Llama-3) for grounded text insights only</a:t>
            </a:r>
          </a:p>
          <a:p>
            <a:pPr lvl="0"/>
            <a:r>
              <a:rPr lang="en-IN" sz="1100" b="1" dirty="0"/>
              <a:t>Finance Layer:</a:t>
            </a:r>
            <a:r>
              <a:rPr lang="en-IN" sz="1100" dirty="0"/>
              <a:t> Pure Python rule engine (Zero AI in math)</a:t>
            </a:r>
          </a:p>
          <a:p>
            <a:pPr lvl="0"/>
            <a:r>
              <a:rPr lang="en-IN" sz="1100" dirty="0"/>
              <a:t>Multi-lingual (AI4Bharat Bhashini API)</a:t>
            </a:r>
          </a:p>
          <a:p>
            <a:pPr lvl="0"/>
            <a:endParaRPr lang="en-IN" sz="1000" dirty="0"/>
          </a:p>
        </p:txBody>
      </p:sp>
      <p:sp>
        <p:nvSpPr>
          <p:cNvPr id="567" name="Google Shape;567;p12"/>
          <p:cNvSpPr txBox="1"/>
          <p:nvPr/>
        </p:nvSpPr>
        <p:spPr>
          <a:xfrm>
            <a:off x="713232" y="528523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ONE-LINE VALUE PROPOSITION:</a:t>
            </a:r>
            <a:endParaRPr/>
          </a:p>
        </p:txBody>
      </p:sp>
      <p:sp>
        <p:nvSpPr>
          <p:cNvPr id="568" name="Google Shape;568;p12"/>
          <p:cNvSpPr txBox="1"/>
          <p:nvPr/>
        </p:nvSpPr>
        <p:spPr>
          <a:xfrm>
            <a:off x="2880360" y="523036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576" name="Google Shape;576;p13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Feasibility, Prototype &amp; Validation Plan</a:t>
            </a:r>
            <a:endParaRPr/>
          </a:p>
        </p:txBody>
      </p:sp>
      <p:sp>
        <p:nvSpPr>
          <p:cNvPr id="577" name="Google Shape;577;p13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Show evidence that the idea can move from concept to implementation during hackathon.</a:t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BUILD READINESS</a:t>
            </a:r>
            <a:endParaRPr/>
          </a:p>
        </p:txBody>
      </p:sp>
      <p:sp>
        <p:nvSpPr>
          <p:cNvPr id="580" name="Google Shape;580;p13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581" name="Google Shape;581;p13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685800" y="1417320"/>
            <a:ext cx="5166360" cy="1874519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 txBox="1"/>
          <p:nvPr/>
        </p:nvSpPr>
        <p:spPr>
          <a:xfrm>
            <a:off x="868680" y="156362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Current proof-of-concept</a:t>
            </a:r>
            <a:endParaRPr/>
          </a:p>
        </p:txBody>
      </p:sp>
      <p:sp>
        <p:nvSpPr>
          <p:cNvPr id="584" name="Google Shape;584;p13"/>
          <p:cNvSpPr txBox="1"/>
          <p:nvPr/>
        </p:nvSpPr>
        <p:spPr>
          <a:xfrm>
            <a:off x="868680" y="1892808"/>
            <a:ext cx="4800600" cy="5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Working HTML/JS prototype demonstrating deterministic financial calculations (EMI, scheme routing) and simulated feasibility report generation.</a:t>
            </a:r>
            <a:endParaRPr sz="1200" dirty="0"/>
          </a:p>
        </p:txBody>
      </p:sp>
      <p:sp>
        <p:nvSpPr>
          <p:cNvPr id="585" name="Google Shape;585;p13"/>
          <p:cNvSpPr/>
          <p:nvPr/>
        </p:nvSpPr>
        <p:spPr>
          <a:xfrm>
            <a:off x="6144768" y="1417320"/>
            <a:ext cx="5330952" cy="1874519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 txBox="1"/>
          <p:nvPr/>
        </p:nvSpPr>
        <p:spPr>
          <a:xfrm>
            <a:off x="6327648" y="1563624"/>
            <a:ext cx="49651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Validation plan</a:t>
            </a:r>
            <a:endParaRPr/>
          </a:p>
        </p:txBody>
      </p:sp>
      <p:sp>
        <p:nvSpPr>
          <p:cNvPr id="587" name="Google Shape;587;p13"/>
          <p:cNvSpPr txBox="1"/>
          <p:nvPr/>
        </p:nvSpPr>
        <p:spPr>
          <a:xfrm>
            <a:off x="6327648" y="1892808"/>
            <a:ext cx="4965192" cy="77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b="1" dirty="0"/>
              <a:t>Financial:</a:t>
            </a:r>
            <a:r>
              <a:rPr lang="en-IN" sz="1200" dirty="0"/>
              <a:t> Verify EMI calculations against official scheme guidelines.</a:t>
            </a:r>
          </a:p>
          <a:p>
            <a:pPr lvl="0"/>
            <a:r>
              <a:rPr lang="en-IN" sz="1200" b="1" dirty="0"/>
              <a:t>User:</a:t>
            </a:r>
            <a:r>
              <a:rPr lang="en-IN" sz="1200" dirty="0"/>
              <a:t> Test UI comprehension with 5-10 rural users (can they explain the loan?).</a:t>
            </a:r>
          </a:p>
          <a:p>
            <a:pPr lvl="0"/>
            <a:r>
              <a:rPr lang="en-IN" sz="1200" b="1" dirty="0"/>
              <a:t>Data:</a:t>
            </a:r>
            <a:r>
              <a:rPr lang="en-IN" sz="1200" dirty="0"/>
              <a:t> Validate proxy math (competitor density) against ground realities.</a:t>
            </a:r>
          </a:p>
        </p:txBody>
      </p:sp>
      <p:sp>
        <p:nvSpPr>
          <p:cNvPr id="588" name="Google Shape;588;p13"/>
          <p:cNvSpPr/>
          <p:nvPr/>
        </p:nvSpPr>
        <p:spPr>
          <a:xfrm>
            <a:off x="685800" y="361188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 txBox="1"/>
          <p:nvPr/>
        </p:nvSpPr>
        <p:spPr>
          <a:xfrm>
            <a:off x="868680" y="37581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Technical feasibility</a:t>
            </a:r>
            <a:endParaRPr/>
          </a:p>
        </p:txBody>
      </p:sp>
      <p:sp>
        <p:nvSpPr>
          <p:cNvPr id="590" name="Google Shape;590;p13"/>
          <p:cNvSpPr txBox="1"/>
          <p:nvPr/>
        </p:nvSpPr>
        <p:spPr>
          <a:xfrm>
            <a:off x="868680" y="4087368"/>
            <a:ext cx="2971800" cy="77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High. Uses open-source stack (</a:t>
            </a:r>
            <a:r>
              <a:rPr lang="en-IN" sz="1200" dirty="0" err="1"/>
              <a:t>FastAPI</a:t>
            </a:r>
            <a:r>
              <a:rPr lang="en-IN" sz="1200" dirty="0"/>
              <a:t>, </a:t>
            </a:r>
            <a:r>
              <a:rPr lang="en-IN" sz="1200" dirty="0" err="1"/>
              <a:t>PostGIS</a:t>
            </a:r>
            <a:r>
              <a:rPr lang="en-IN" sz="1200" dirty="0"/>
              <a:t>) and public data (Census, OpenStreetMap). No expensive proprietary APIs required for MVP.</a:t>
            </a:r>
            <a:endParaRPr sz="1200" dirty="0"/>
          </a:p>
        </p:txBody>
      </p:sp>
      <p:sp>
        <p:nvSpPr>
          <p:cNvPr id="591" name="Google Shape;591;p13"/>
          <p:cNvSpPr/>
          <p:nvPr/>
        </p:nvSpPr>
        <p:spPr>
          <a:xfrm>
            <a:off x="4407408" y="361188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 txBox="1"/>
          <p:nvPr/>
        </p:nvSpPr>
        <p:spPr>
          <a:xfrm>
            <a:off x="4590288" y="37581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Cost / deployment feasibility</a:t>
            </a:r>
            <a:endParaRPr/>
          </a:p>
        </p:txBody>
      </p:sp>
      <p:sp>
        <p:nvSpPr>
          <p:cNvPr id="593" name="Google Shape;593;p13"/>
          <p:cNvSpPr txBox="1"/>
          <p:nvPr/>
        </p:nvSpPr>
        <p:spPr>
          <a:xfrm>
            <a:off x="4590288" y="4087368"/>
            <a:ext cx="2971800" cy="77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200" dirty="0"/>
              <a:t>Low cost. Cloud hosting (AWS free tier), open-source LLMs, free government data. Sustainable via Govt SaaS licensing post-pilot.</a:t>
            </a:r>
            <a:endParaRPr sz="1200" dirty="0"/>
          </a:p>
        </p:txBody>
      </p:sp>
      <p:sp>
        <p:nvSpPr>
          <p:cNvPr id="594" name="Google Shape;594;p13"/>
          <p:cNvSpPr/>
          <p:nvPr/>
        </p:nvSpPr>
        <p:spPr>
          <a:xfrm>
            <a:off x="8138160" y="3611880"/>
            <a:ext cx="3337560" cy="132588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 txBox="1"/>
          <p:nvPr/>
        </p:nvSpPr>
        <p:spPr>
          <a:xfrm>
            <a:off x="8321040" y="37581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Risks &amp; mitigation</a:t>
            </a:r>
            <a:endParaRPr/>
          </a:p>
        </p:txBody>
      </p:sp>
      <p:sp>
        <p:nvSpPr>
          <p:cNvPr id="596" name="Google Shape;596;p13"/>
          <p:cNvSpPr txBox="1"/>
          <p:nvPr/>
        </p:nvSpPr>
        <p:spPr>
          <a:xfrm>
            <a:off x="8321040" y="4087368"/>
            <a:ext cx="2971800" cy="71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b="1" dirty="0"/>
              <a:t>Risk:</a:t>
            </a:r>
            <a:r>
              <a:rPr lang="en-IN" sz="1100" dirty="0"/>
              <a:t> AI hallucinations in finance. </a:t>
            </a:r>
            <a:r>
              <a:rPr lang="en-IN" sz="1100" b="1" dirty="0"/>
              <a:t>Mitigation:</a:t>
            </a:r>
            <a:r>
              <a:rPr lang="en-IN" sz="1100" dirty="0"/>
              <a:t> 100% deterministic math engine.</a:t>
            </a:r>
          </a:p>
          <a:p>
            <a:pPr lvl="0"/>
            <a:r>
              <a:rPr lang="en-IN" sz="1100" b="1" dirty="0"/>
              <a:t>Risk:</a:t>
            </a:r>
            <a:r>
              <a:rPr lang="en-IN" sz="1100" dirty="0"/>
              <a:t> Outdated village data. </a:t>
            </a:r>
            <a:r>
              <a:rPr lang="en-IN" sz="1100" b="1" dirty="0"/>
              <a:t>Mitigation:</a:t>
            </a:r>
            <a:r>
              <a:rPr lang="en-IN" sz="1100" dirty="0"/>
              <a:t> Clear </a:t>
            </a:r>
            <a:r>
              <a:rPr lang="en-IN" sz="1100" dirty="0" err="1"/>
              <a:t>labeling</a:t>
            </a:r>
            <a:r>
              <a:rPr lang="en-IN" sz="1100" dirty="0"/>
              <a:t> of estimates vs. facts.</a:t>
            </a:r>
          </a:p>
        </p:txBody>
      </p:sp>
      <p:sp>
        <p:nvSpPr>
          <p:cNvPr id="597" name="Google Shape;597;p13"/>
          <p:cNvSpPr txBox="1"/>
          <p:nvPr/>
        </p:nvSpPr>
        <p:spPr>
          <a:xfrm>
            <a:off x="713232" y="5532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605" name="Google Shape;605;p14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Impact, Scalability &amp; Roadmap</a:t>
            </a:r>
            <a:endParaRPr/>
          </a:p>
        </p:txBody>
      </p:sp>
      <p:sp>
        <p:nvSpPr>
          <p:cNvPr id="606" name="Google Shape;606;p14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Connect the solution to a measurable and realistic outcome beyond the hackathon.</a:t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/>
          </a:p>
        </p:txBody>
      </p:sp>
      <p:sp>
        <p:nvSpPr>
          <p:cNvPr id="609" name="Google Shape;609;p14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610" name="Google Shape;610;p14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685800" y="1417319"/>
            <a:ext cx="3383280" cy="2139693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 txBox="1"/>
          <p:nvPr/>
        </p:nvSpPr>
        <p:spPr>
          <a:xfrm>
            <a:off x="868680" y="15636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Target impact</a:t>
            </a:r>
            <a:endParaRPr/>
          </a:p>
        </p:txBody>
      </p:sp>
      <p:sp>
        <p:nvSpPr>
          <p:cNvPr id="613" name="Google Shape;613;p14"/>
          <p:cNvSpPr txBox="1"/>
          <p:nvPr/>
        </p:nvSpPr>
        <p:spPr>
          <a:xfrm>
            <a:off x="868680" y="1892808"/>
            <a:ext cx="3017520" cy="157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000" b="1" dirty="0"/>
              <a:t>Short-Term (Year 1):</a:t>
            </a:r>
            <a:r>
              <a:rPr lang="en-IN" sz="1000" dirty="0"/>
              <a:t> Serve 500+ entrepreneurs across 5-10 pilot villages; reduce business failure rate from 68% to 40%</a:t>
            </a:r>
          </a:p>
          <a:p>
            <a:pPr lvl="0"/>
            <a:r>
              <a:rPr lang="en-IN" sz="1000" b="1" dirty="0"/>
              <a:t>Medium-Term (Year 3):</a:t>
            </a:r>
            <a:r>
              <a:rPr lang="en-IN" sz="1000" dirty="0"/>
              <a:t> Scale to 10,000+ beneficiaries across 3 states; prevent ₹5 Cr in loan defaults</a:t>
            </a:r>
          </a:p>
          <a:p>
            <a:pPr lvl="0"/>
            <a:r>
              <a:rPr lang="en-IN" sz="1000" b="1" dirty="0"/>
              <a:t>Social Impact:</a:t>
            </a:r>
            <a:r>
              <a:rPr lang="en-IN" sz="1000" dirty="0"/>
              <a:t> Economic empowerment of SC/ST/minority communities; 60%+ women entrepreneurship support; generate 3-5 jobs per enterprise</a:t>
            </a:r>
          </a:p>
        </p:txBody>
      </p:sp>
      <p:sp>
        <p:nvSpPr>
          <p:cNvPr id="614" name="Google Shape;614;p14"/>
          <p:cNvSpPr/>
          <p:nvPr/>
        </p:nvSpPr>
        <p:spPr>
          <a:xfrm>
            <a:off x="4407408" y="1417320"/>
            <a:ext cx="3383280" cy="146304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 txBox="1"/>
          <p:nvPr/>
        </p:nvSpPr>
        <p:spPr>
          <a:xfrm>
            <a:off x="4590288" y="15636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Scalability / sustainability</a:t>
            </a:r>
            <a:endParaRPr/>
          </a:p>
        </p:txBody>
      </p:sp>
      <p:sp>
        <p:nvSpPr>
          <p:cNvPr id="616" name="Google Shape;616;p14"/>
          <p:cNvSpPr txBox="1"/>
          <p:nvPr/>
        </p:nvSpPr>
        <p:spPr>
          <a:xfrm>
            <a:off x="4590288" y="1892808"/>
            <a:ext cx="3017520" cy="88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b="1" dirty="0"/>
              <a:t>Business Model:</a:t>
            </a:r>
            <a:r>
              <a:rPr lang="en-IN" sz="1100" dirty="0"/>
              <a:t> Free for beneficiaries; sustainable via government </a:t>
            </a:r>
          </a:p>
          <a:p>
            <a:pPr lvl="0"/>
            <a:r>
              <a:rPr lang="en-IN" sz="1100" b="1" dirty="0"/>
              <a:t>Data:</a:t>
            </a:r>
            <a:r>
              <a:rPr lang="en-IN" sz="1100" dirty="0"/>
              <a:t> Open-source core engine allows community contributions; roadmap includes live API integration with Udyam/DAY-NRLM</a:t>
            </a:r>
          </a:p>
        </p:txBody>
      </p:sp>
      <p:sp>
        <p:nvSpPr>
          <p:cNvPr id="617" name="Google Shape;617;p14"/>
          <p:cNvSpPr/>
          <p:nvPr/>
        </p:nvSpPr>
        <p:spPr>
          <a:xfrm>
            <a:off x="8001000" y="1527045"/>
            <a:ext cx="3337560" cy="1755649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 txBox="1"/>
          <p:nvPr/>
        </p:nvSpPr>
        <p:spPr>
          <a:xfrm>
            <a:off x="8321040" y="15636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Deployment stakeholders</a:t>
            </a:r>
            <a:endParaRPr/>
          </a:p>
        </p:txBody>
      </p:sp>
      <p:sp>
        <p:nvSpPr>
          <p:cNvPr id="619" name="Google Shape;619;p14"/>
          <p:cNvSpPr txBox="1"/>
          <p:nvPr/>
        </p:nvSpPr>
        <p:spPr>
          <a:xfrm>
            <a:off x="8321040" y="1892808"/>
            <a:ext cx="2971800" cy="105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/>
            <a:r>
              <a:rPr lang="en-IN" sz="1100" b="1" dirty="0"/>
              <a:t>Primary:</a:t>
            </a:r>
            <a:r>
              <a:rPr lang="en-IN" sz="1100" dirty="0"/>
              <a:t> Ministry of Social Justice &amp; Empowerment (</a:t>
            </a:r>
            <a:r>
              <a:rPr lang="en-IN" sz="1100" dirty="0" err="1"/>
              <a:t>MoSJE</a:t>
            </a:r>
            <a:r>
              <a:rPr lang="en-IN" sz="1100" dirty="0"/>
              <a:t>)</a:t>
            </a:r>
          </a:p>
          <a:p>
            <a:pPr lvl="0"/>
            <a:r>
              <a:rPr lang="en-IN" sz="1100" b="1" dirty="0"/>
              <a:t>Implementation:</a:t>
            </a:r>
            <a:r>
              <a:rPr lang="en-IN" sz="1100" dirty="0"/>
              <a:t> State Channelizing Agencies (SCAs), NSFDC/NBCFDC</a:t>
            </a:r>
          </a:p>
          <a:p>
            <a:pPr lvl="0"/>
            <a:r>
              <a:rPr lang="en-IN" sz="1100" b="1" dirty="0"/>
              <a:t>Ground Level:</a:t>
            </a:r>
            <a:r>
              <a:rPr lang="en-IN" sz="1100" dirty="0"/>
              <a:t> CSC operators, SHG facilitators, DRDAs, bank loan officers</a:t>
            </a:r>
          </a:p>
        </p:txBody>
      </p:sp>
      <p:sp>
        <p:nvSpPr>
          <p:cNvPr id="620" name="Google Shape;620;p14"/>
          <p:cNvSpPr/>
          <p:nvPr/>
        </p:nvSpPr>
        <p:spPr>
          <a:xfrm>
            <a:off x="731520" y="3657600"/>
            <a:ext cx="2423160" cy="105156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 txBox="1"/>
          <p:nvPr/>
        </p:nvSpPr>
        <p:spPr>
          <a:xfrm>
            <a:off x="896112" y="384048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/>
          </a:p>
        </p:txBody>
      </p:sp>
      <p:sp>
        <p:nvSpPr>
          <p:cNvPr id="622" name="Google Shape;622;p14"/>
          <p:cNvSpPr txBox="1"/>
          <p:nvPr/>
        </p:nvSpPr>
        <p:spPr>
          <a:xfrm>
            <a:off x="896112" y="4133087"/>
            <a:ext cx="2103120" cy="3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dirty="0"/>
              <a:t>Problem validated (7.92 Cr establishments, 68% failure rate)</a:t>
            </a:r>
            <a:endParaRPr sz="1100" dirty="0"/>
          </a:p>
        </p:txBody>
      </p:sp>
      <p:cxnSp>
        <p:nvCxnSpPr>
          <p:cNvPr id="623" name="Google Shape;623;p14"/>
          <p:cNvCxnSpPr/>
          <p:nvPr/>
        </p:nvCxnSpPr>
        <p:spPr>
          <a:xfrm>
            <a:off x="3200400" y="4160520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624" name="Google Shape;624;p14"/>
          <p:cNvSpPr/>
          <p:nvPr/>
        </p:nvSpPr>
        <p:spPr>
          <a:xfrm>
            <a:off x="3474720" y="3657600"/>
            <a:ext cx="2423160" cy="105156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 txBox="1"/>
          <p:nvPr/>
        </p:nvSpPr>
        <p:spPr>
          <a:xfrm>
            <a:off x="3639312" y="384048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IDEATION</a:t>
            </a:r>
            <a:endParaRPr/>
          </a:p>
        </p:txBody>
      </p:sp>
      <p:sp>
        <p:nvSpPr>
          <p:cNvPr id="626" name="Google Shape;626;p14"/>
          <p:cNvSpPr txBox="1"/>
          <p:nvPr/>
        </p:nvSpPr>
        <p:spPr>
          <a:xfrm>
            <a:off x="3639312" y="4133087"/>
            <a:ext cx="2103120" cy="544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b="1" dirty="0"/>
              <a:t>IDEATION</a:t>
            </a:r>
            <a:r>
              <a:rPr lang="en-IN" sz="1100" dirty="0"/>
              <a:t> → Concept selected (</a:t>
            </a:r>
            <a:r>
              <a:rPr lang="en-IN" sz="1100" dirty="0" err="1"/>
              <a:t>GramSahayak</a:t>
            </a:r>
            <a:r>
              <a:rPr lang="en-IN" sz="1100" dirty="0"/>
              <a:t> AI - Two-tier architecture)</a:t>
            </a:r>
            <a:endParaRPr sz="1100" dirty="0"/>
          </a:p>
        </p:txBody>
      </p:sp>
      <p:cxnSp>
        <p:nvCxnSpPr>
          <p:cNvPr id="627" name="Google Shape;627;p14"/>
          <p:cNvCxnSpPr/>
          <p:nvPr/>
        </p:nvCxnSpPr>
        <p:spPr>
          <a:xfrm>
            <a:off x="5943600" y="4160520"/>
            <a:ext cx="256031" cy="0"/>
          </a:xfrm>
          <a:prstGeom prst="straightConnector1">
            <a:avLst/>
          </a:prstGeom>
          <a:noFill/>
          <a:ln w="19050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628" name="Google Shape;628;p14"/>
          <p:cNvSpPr/>
          <p:nvPr/>
        </p:nvSpPr>
        <p:spPr>
          <a:xfrm>
            <a:off x="6217920" y="3657600"/>
            <a:ext cx="2423160" cy="105156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 txBox="1"/>
          <p:nvPr/>
        </p:nvSpPr>
        <p:spPr>
          <a:xfrm>
            <a:off x="6382512" y="384048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sp>
        <p:nvSpPr>
          <p:cNvPr id="630" name="Google Shape;630;p14"/>
          <p:cNvSpPr txBox="1"/>
          <p:nvPr/>
        </p:nvSpPr>
        <p:spPr>
          <a:xfrm>
            <a:off x="6382512" y="4133087"/>
            <a:ext cx="2103120" cy="544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b="1" dirty="0"/>
              <a:t>HACKATHON</a:t>
            </a:r>
            <a:r>
              <a:rPr lang="en-IN" sz="1100" dirty="0"/>
              <a:t> → Prototype tested (Working MVP with 5 villages, 5 businesses)</a:t>
            </a:r>
            <a:endParaRPr sz="1100" dirty="0"/>
          </a:p>
        </p:txBody>
      </p:sp>
      <p:cxnSp>
        <p:nvCxnSpPr>
          <p:cNvPr id="631" name="Google Shape;631;p14"/>
          <p:cNvCxnSpPr/>
          <p:nvPr/>
        </p:nvCxnSpPr>
        <p:spPr>
          <a:xfrm>
            <a:off x="8686800" y="4160520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632" name="Google Shape;632;p14"/>
          <p:cNvSpPr/>
          <p:nvPr/>
        </p:nvSpPr>
        <p:spPr>
          <a:xfrm>
            <a:off x="8961120" y="3657600"/>
            <a:ext cx="2423160" cy="105156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 txBox="1"/>
          <p:nvPr/>
        </p:nvSpPr>
        <p:spPr>
          <a:xfrm>
            <a:off x="9125712" y="384048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634" name="Google Shape;634;p14"/>
          <p:cNvSpPr txBox="1"/>
          <p:nvPr/>
        </p:nvSpPr>
        <p:spPr>
          <a:xfrm>
            <a:off x="9125712" y="4133087"/>
            <a:ext cx="2103120" cy="544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lvl="0" algn="ctr"/>
            <a:r>
              <a:rPr lang="en-IN" sz="1100" b="1" dirty="0"/>
              <a:t>NEXT</a:t>
            </a:r>
            <a:r>
              <a:rPr lang="en-IN" sz="1100" dirty="0"/>
              <a:t> → Pilot / refinement (Field testing with 50+ users, expert validation)</a:t>
            </a:r>
            <a:endParaRPr sz="1100" dirty="0"/>
          </a:p>
        </p:txBody>
      </p:sp>
      <p:sp>
        <p:nvSpPr>
          <p:cNvPr id="635" name="Google Shape;635;p14"/>
          <p:cNvSpPr txBox="1"/>
          <p:nvPr/>
        </p:nvSpPr>
        <p:spPr>
          <a:xfrm>
            <a:off x="731520" y="532180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FINAL ASK:</a:t>
            </a:r>
            <a:endParaRPr/>
          </a:p>
        </p:txBody>
      </p:sp>
      <p:sp>
        <p:nvSpPr>
          <p:cNvPr id="636" name="Google Shape;636;p14"/>
          <p:cNvSpPr txBox="1"/>
          <p:nvPr/>
        </p:nvSpPr>
        <p:spPr>
          <a:xfrm>
            <a:off x="1828800" y="5257800"/>
            <a:ext cx="9418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E20"/>
          </a:solidFill>
          <a:ln w="9525" cap="flat" cmpd="sng">
            <a:solidFill>
              <a:srgbClr val="F47E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5"/>
          <p:cNvSpPr/>
          <p:nvPr/>
        </p:nvSpPr>
        <p:spPr>
          <a:xfrm>
            <a:off x="0" y="128016"/>
            <a:ext cx="12191695" cy="73152"/>
          </a:xfrm>
          <a:prstGeom prst="rect">
            <a:avLst/>
          </a:prstGeom>
          <a:solidFill>
            <a:srgbClr val="148E5B"/>
          </a:solidFill>
          <a:ln w="9525" cap="flat" cmpd="sng">
            <a:solidFill>
              <a:srgbClr val="148E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 txBox="1"/>
          <p:nvPr/>
        </p:nvSpPr>
        <p:spPr>
          <a:xfrm>
            <a:off x="502920" y="411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7E2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644" name="Google Shape;644;p15"/>
          <p:cNvSpPr txBox="1"/>
          <p:nvPr/>
        </p:nvSpPr>
        <p:spPr>
          <a:xfrm>
            <a:off x="1143000" y="310896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1C34"/>
                </a:solidFill>
                <a:latin typeface="Arial"/>
                <a:ea typeface="Arial"/>
                <a:cs typeface="Arial"/>
                <a:sym typeface="Arial"/>
              </a:rPr>
              <a:t>Team, Work Done &amp; References</a:t>
            </a:r>
            <a:endParaRPr/>
          </a:p>
        </p:txBody>
      </p:sp>
      <p:sp>
        <p:nvSpPr>
          <p:cNvPr id="645" name="Google Shape;645;p15"/>
          <p:cNvSpPr txBox="1"/>
          <p:nvPr/>
        </p:nvSpPr>
        <p:spPr>
          <a:xfrm>
            <a:off x="1143000" y="86868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Make the team's effort visible. Divide work, show evidence and cite sources.</a:t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9235440" y="438912"/>
            <a:ext cx="2240280" cy="438912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 txBox="1"/>
          <p:nvPr/>
        </p:nvSpPr>
        <p:spPr>
          <a:xfrm>
            <a:off x="9372600" y="55778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FINAL CHECK</a:t>
            </a:r>
            <a:endParaRPr/>
          </a:p>
        </p:txBody>
      </p:sp>
      <p:sp>
        <p:nvSpPr>
          <p:cNvPr id="648" name="Google Shape;648;p15"/>
          <p:cNvSpPr txBox="1"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SMART INDIA HACKATHON 2026  |  KUMARAGURU INTERNAL IDEATHON</a:t>
            </a:r>
            <a:endParaRPr/>
          </a:p>
        </p:txBody>
      </p:sp>
      <p:sp>
        <p:nvSpPr>
          <p:cNvPr id="649" name="Google Shape;649;p15"/>
          <p:cNvSpPr txBox="1"/>
          <p:nvPr/>
        </p:nvSpPr>
        <p:spPr>
          <a:xfrm>
            <a:off x="8641080" y="65105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DOUBLE DIAMOND SUBMISSION TEMPLATE</a:t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685800" y="1417320"/>
            <a:ext cx="6035040" cy="242316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 txBox="1"/>
          <p:nvPr/>
        </p:nvSpPr>
        <p:spPr>
          <a:xfrm>
            <a:off x="868680" y="1563624"/>
            <a:ext cx="56692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Team capability map</a:t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6995160" y="1417320"/>
            <a:ext cx="4480560" cy="105156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 txBox="1"/>
          <p:nvPr/>
        </p:nvSpPr>
        <p:spPr>
          <a:xfrm>
            <a:off x="7178040" y="15636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Mentor / expert support</a:t>
            </a:r>
            <a:endParaRPr/>
          </a:p>
        </p:txBody>
      </p:sp>
      <p:sp>
        <p:nvSpPr>
          <p:cNvPr id="655" name="Google Shape;655;p15"/>
          <p:cNvSpPr txBox="1"/>
          <p:nvPr/>
        </p:nvSpPr>
        <p:spPr>
          <a:xfrm>
            <a:off x="7178040" y="1892808"/>
            <a:ext cx="4114800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1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6995160" y="2679192"/>
            <a:ext cx="4480560" cy="2002536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9525" cap="flat" cmpd="sng">
            <a:solidFill>
              <a:srgbClr val="DAE1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 txBox="1"/>
          <p:nvPr/>
        </p:nvSpPr>
        <p:spPr>
          <a:xfrm>
            <a:off x="7178040" y="276148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 dirty="0">
                <a:solidFill>
                  <a:srgbClr val="135EA8"/>
                </a:solidFill>
                <a:latin typeface="Arial"/>
                <a:ea typeface="Arial"/>
                <a:cs typeface="Arial"/>
                <a:sym typeface="Arial"/>
              </a:rPr>
              <a:t>Key references</a:t>
            </a:r>
            <a:endParaRPr dirty="0"/>
          </a:p>
        </p:txBody>
      </p:sp>
      <p:sp>
        <p:nvSpPr>
          <p:cNvPr id="658" name="Google Shape;658;p15"/>
          <p:cNvSpPr txBox="1"/>
          <p:nvPr/>
        </p:nvSpPr>
        <p:spPr>
          <a:xfrm>
            <a:off x="7178040" y="3046453"/>
            <a:ext cx="4114800" cy="1491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r>
              <a:rPr lang="en-IN" sz="1050" b="1" dirty="0"/>
              <a:t>Government Data Sources:</a:t>
            </a:r>
            <a:endParaRPr lang="en-IN" sz="1050" dirty="0"/>
          </a:p>
          <a:p>
            <a:pPr lvl="0"/>
            <a:r>
              <a:rPr lang="en-IN" sz="1050" dirty="0" err="1"/>
              <a:t>MoSPI</a:t>
            </a:r>
            <a:r>
              <a:rPr lang="en-IN" sz="1050" dirty="0"/>
              <a:t> ASUSE 2023-24 Report - </a:t>
            </a:r>
            <a:r>
              <a:rPr lang="en-IN" sz="1050" dirty="0">
                <a:hlinkClick r:id="rId3"/>
              </a:rPr>
              <a:t>https://www.mospi.gov.in/</a:t>
            </a:r>
            <a:endParaRPr lang="en-IN" sz="1050" dirty="0"/>
          </a:p>
          <a:p>
            <a:pPr lvl="0"/>
            <a:r>
              <a:rPr lang="en-IN" sz="1050" dirty="0"/>
              <a:t>Census 2011 - </a:t>
            </a:r>
            <a:r>
              <a:rPr lang="en-IN" sz="1050" dirty="0">
                <a:hlinkClick r:id="rId4"/>
              </a:rPr>
              <a:t>https://censusindia.gov.in/</a:t>
            </a:r>
            <a:endParaRPr lang="en-IN" sz="1050" dirty="0"/>
          </a:p>
          <a:p>
            <a:pPr lvl="0"/>
            <a:r>
              <a:rPr lang="en-IN" sz="1050" dirty="0"/>
              <a:t>NABARD NAFIS 2021-22 - </a:t>
            </a:r>
            <a:r>
              <a:rPr lang="en-IN" sz="1050" dirty="0">
                <a:hlinkClick r:id="rId5"/>
              </a:rPr>
              <a:t>https://www.nabard.org/</a:t>
            </a:r>
            <a:endParaRPr lang="en-IN" sz="1050" dirty="0"/>
          </a:p>
          <a:p>
            <a:pPr lvl="0"/>
            <a:r>
              <a:rPr lang="en-IN" sz="1050" dirty="0"/>
              <a:t>Udyam Dashboard - </a:t>
            </a:r>
            <a:r>
              <a:rPr lang="en-IN" sz="1050" dirty="0">
                <a:hlinkClick r:id="rId6"/>
              </a:rPr>
              <a:t>https://udyamregistration.gov.in/</a:t>
            </a:r>
            <a:endParaRPr lang="en-IN" sz="1050" dirty="0"/>
          </a:p>
          <a:p>
            <a:pPr lvl="0"/>
            <a:r>
              <a:rPr lang="en-IN" sz="1050" dirty="0"/>
              <a:t>PSB Loans in 59 Minutes - </a:t>
            </a:r>
            <a:r>
              <a:rPr lang="en-IN" sz="1050" dirty="0">
                <a:hlinkClick r:id="rId7"/>
              </a:rPr>
              <a:t>https://www.psbloansin59minutes.com/</a:t>
            </a:r>
            <a:endParaRPr lang="en-IN" sz="1050" dirty="0"/>
          </a:p>
          <a:p>
            <a:r>
              <a:rPr lang="en-IN" sz="1050" b="1" dirty="0"/>
              <a:t>Government Portals </a:t>
            </a:r>
            <a:r>
              <a:rPr lang="en-IN" sz="1050" b="1" dirty="0" err="1"/>
              <a:t>Analyzed</a:t>
            </a:r>
            <a:r>
              <a:rPr lang="en-IN" sz="1050" b="1" dirty="0"/>
              <a:t>:</a:t>
            </a:r>
            <a:r>
              <a:rPr lang="en-IN" sz="1050" dirty="0"/>
              <a:t> 6. </a:t>
            </a:r>
            <a:r>
              <a:rPr lang="en-IN" sz="1050" dirty="0" err="1"/>
              <a:t>JanSamarth</a:t>
            </a:r>
            <a:r>
              <a:rPr lang="en-IN" sz="1050" dirty="0"/>
              <a:t> - </a:t>
            </a:r>
            <a:r>
              <a:rPr lang="en-IN" sz="1050" dirty="0">
                <a:hlinkClick r:id="rId8"/>
              </a:rPr>
              <a:t>https://www.jansamarth.in/</a:t>
            </a:r>
            <a:r>
              <a:rPr lang="en-IN" sz="1050" dirty="0"/>
              <a:t> 7. PM-SURAJ - </a:t>
            </a:r>
            <a:r>
              <a:rPr lang="en-IN" sz="1050" dirty="0">
                <a:hlinkClick r:id="rId9"/>
              </a:rPr>
              <a:t>https://pmsuraj.dosje.gov.in/</a:t>
            </a:r>
            <a:endParaRPr lang="en-IN" sz="1050" dirty="0"/>
          </a:p>
        </p:txBody>
      </p:sp>
      <p:sp>
        <p:nvSpPr>
          <p:cNvPr id="659" name="Google Shape;659;p15"/>
          <p:cNvSpPr/>
          <p:nvPr/>
        </p:nvSpPr>
        <p:spPr>
          <a:xfrm>
            <a:off x="700887" y="4754880"/>
            <a:ext cx="10789920" cy="914400"/>
          </a:xfrm>
          <a:prstGeom prst="roundRect">
            <a:avLst>
              <a:gd name="adj" fmla="val 16667"/>
            </a:avLst>
          </a:prstGeom>
          <a:solidFill>
            <a:srgbClr val="0C1C34"/>
          </a:solidFill>
          <a:ln w="9525" cap="flat" cmpd="sng">
            <a:solidFill>
              <a:srgbClr val="0C1C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"/>
          <p:cNvSpPr txBox="1"/>
          <p:nvPr/>
        </p:nvSpPr>
        <p:spPr>
          <a:xfrm>
            <a:off x="900176" y="51663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AECDEA"/>
                </a:solidFill>
                <a:latin typeface="Arial"/>
                <a:ea typeface="Arial"/>
                <a:cs typeface="Arial"/>
                <a:sym typeface="Arial"/>
              </a:rPr>
              <a:t>BEFORE SUBMISSION</a:t>
            </a:r>
            <a:endParaRPr dirty="0"/>
          </a:p>
        </p:txBody>
      </p:sp>
      <p:sp>
        <p:nvSpPr>
          <p:cNvPr id="661" name="Google Shape;661;p15"/>
          <p:cNvSpPr txBox="1"/>
          <p:nvPr/>
        </p:nvSpPr>
        <p:spPr>
          <a:xfrm>
            <a:off x="2547112" y="5129784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6 members   ✓ ≥1 female member   ✓ PS ID correct   ✓ Mentor added   ✓ First-diamond evidence   ✓ Iteration log   ✓ Final PDF checked</a:t>
            </a:r>
            <a:endParaRPr/>
          </a:p>
        </p:txBody>
      </p:sp>
      <p:sp>
        <p:nvSpPr>
          <p:cNvPr id="662" name="Google Shape;662;p15"/>
          <p:cNvSpPr txBox="1"/>
          <p:nvPr/>
        </p:nvSpPr>
        <p:spPr>
          <a:xfrm>
            <a:off x="713232" y="580644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67485"/>
                </a:solidFill>
                <a:latin typeface="Arial"/>
                <a:ea typeface="Arial"/>
                <a:cs typeface="Arial"/>
                <a:sym typeface="Arial"/>
              </a:rPr>
              <a:t>Submission tip: Do not hide the process. SIH juries reward clarity, effort, evidence and the ability to improve.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4330</Words>
  <Application>Microsoft Office PowerPoint</Application>
  <PresentationFormat>Widescreen</PresentationFormat>
  <Paragraphs>488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Harinath S 24BCS095</cp:lastModifiedBy>
  <cp:revision>2</cp:revision>
  <dcterms:created xsi:type="dcterms:W3CDTF">2013-01-27T09:14:16Z</dcterms:created>
  <dcterms:modified xsi:type="dcterms:W3CDTF">2026-09-20T18:03:41Z</dcterms:modified>
</cp:coreProperties>
</file>